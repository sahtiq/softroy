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Softroy Agent (MARA) is a multi-agent academic research assistant.
It automates literature review, evidence synthesis, hypothesis generation, and scientific writing.
Unlike single-model AI tools, it coordinates 20 specialized agents.
Built for university final-year technical review and portfolio showcase.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lose enormous time to manual search, reading, and citation management.
Existing AI tools use one LLM for everything, causing hallucinated citations and static workflows.
Softroy Agent solves this with an adaptive Request Router and multi-agent consensus.
Vision: the leading open-source platform for trustworthy, cost-efficient research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system flow: User to Frontend to API Gateway to Request Router.
The Router hands off to LangGraph, which orchestrates the Multi-Agent Engine.
Agents pull from Knowledge Sources (databases + academic APIs).
Output is a verified, citation-backed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agents are grouped into six categories: Planning, Retrieval, Knowledge, Analysis, Generation, Validation.
Each agent has one well-defined responsibility, coordinated by the Research Director Agent.
Agents share state through LangGraph and communicate via shared memory (Postgres, Qdrant, Neo4j).
This specialization is what differentiates Softroy Agent from single-model assistants.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RAG pipeline: intent detection through query expansion, hybrid retrieval, and fusion ranking.
Retrieval combines vector search (Qdrant/BGE-M3), keyword search, and knowledge graph queries.
The LLM Gateway routes to Kimi K3, Qwen3, or DeepSeek-V3 depending on the task.
Citation verification against Crossref happens before the final report is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foundation spans three pillars: data/memory, security, and infrastructure.
PostgreSQL, Qdrant, and Neo4j form the shared memory layer; Redis handles caching.
Security uses JWT, OAuth, RBAC, and encrypted secrets.
Infrastructure runs on Docker with CI/CD and Prometheus/Grafana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technology stack across five layers: frontend, backend, AI framework, databases, and DevOps.
Frontend: Next.js 14, React 18, TypeScript, Tailwind.
Backend: FastAPI on Python 3.11 with LangGraph orchestration.
All AI inference routes through OpenRouter to open-weight models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follows six phases from problem understanding to deployment.
Phase 1-2 cover requirements and architecture; Phase 3 is core development.
Phase 4 optimizes prompts, retrieval, and workflow performance.
Phases 5-6 cover testing and final cloud deployment with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performance targets: &gt;98% citation precision, &lt;2% hallucination rate, 99% workflow completion.
Cost efficiency target: &gt;40% token reduction versus static pipelines.
Future scope includes multi-modal research, fine-tuned domain models, and autonomous agents.
These targets and roadmap items come directly from the project's SRS success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Softroy Agent turns AI from a single text generator into a collaborative virtual research team.
It is evidence-grounded, adaptive, consensus-driven, and built on an open, modular architecture.
This concludes the technical overview — open the floor for questions.
Thank you for reviewing Softroy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home/claude/deck/assets/bg-hero.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08660" y="662940"/>
            <a:ext cx="502920" cy="502920"/>
          </a:xfrm>
          <a:prstGeom prst="ellipse">
            <a:avLst/>
          </a:prstGeom>
          <a:solidFill>
            <a:srgbClr val="3B82F6">
              <a:alpha val="45000"/>
            </a:srgbClr>
          </a:solidFill>
          <a:ln w="15875">
            <a:solidFill>
              <a:srgbClr val="3B82F6"/>
            </a:solidFill>
            <a:prstDash val="solid"/>
          </a:ln>
        </p:spPr>
      </p:sp>
      <p:sp>
        <p:nvSpPr>
          <p:cNvPr id="4" name="Text 1"/>
          <p:cNvSpPr/>
          <p:nvPr/>
        </p:nvSpPr>
        <p:spPr>
          <a:xfrm>
            <a:off x="708660" y="662940"/>
            <a:ext cx="502920" cy="502920"/>
          </a:xfrm>
          <a:prstGeom prst="rect">
            <a:avLst/>
          </a:prstGeom>
          <a:noFill/>
          <a:ln/>
        </p:spPr>
        <p:txBody>
          <a:bodyPr wrap="square" lIns="0" tIns="0" rIns="0" bIns="0" rtlCol="0" anchor="ctr"/>
          <a:lstStyle/>
          <a:p>
            <a:pPr algn="ctr" indent="0" marL="0">
              <a:buNone/>
            </a:pPr>
            <a:r>
              <a:rPr lang="en-US" sz="2400" b="1" dirty="0">
                <a:solidFill>
                  <a:srgbClr val="3B82F6"/>
                </a:solidFill>
                <a:latin typeface="Arial" pitchFamily="34" charset="0"/>
                <a:ea typeface="Arial" pitchFamily="34" charset="-122"/>
                <a:cs typeface="Arial" pitchFamily="34" charset="-120"/>
              </a:rPr>
              <a:t>S</a:t>
            </a:r>
            <a:endParaRPr lang="en-US" sz="2400" dirty="0"/>
          </a:p>
        </p:txBody>
      </p:sp>
      <p:sp>
        <p:nvSpPr>
          <p:cNvPr id="5" name="Text 2"/>
          <p:cNvSpPr/>
          <p:nvPr/>
        </p:nvSpPr>
        <p:spPr>
          <a:xfrm>
            <a:off x="1371600" y="658368"/>
            <a:ext cx="4572000" cy="512064"/>
          </a:xfrm>
          <a:prstGeom prst="rect">
            <a:avLst/>
          </a:prstGeom>
          <a:noFill/>
          <a:ln/>
        </p:spPr>
        <p:txBody>
          <a:bodyPr wrap="square" lIns="0" tIns="0" rIns="0" bIns="0" rtlCol="0" anchor="ctr"/>
          <a:lstStyle/>
          <a:p>
            <a:pPr indent="0" marL="0">
              <a:buNone/>
            </a:pPr>
            <a:r>
              <a:rPr lang="en-US" sz="1600" b="1" spc="200" kern="0" dirty="0">
                <a:solidFill>
                  <a:srgbClr val="F5F5F7"/>
                </a:solidFill>
                <a:latin typeface="Calibri" pitchFamily="34" charset="0"/>
                <a:ea typeface="Calibri" pitchFamily="34" charset="-122"/>
                <a:cs typeface="Calibri" pitchFamily="34" charset="-120"/>
              </a:rPr>
              <a:t>SOFTROY AGENT</a:t>
            </a:r>
            <a:endParaRPr lang="en-US" sz="1600" dirty="0"/>
          </a:p>
        </p:txBody>
      </p:sp>
      <p:sp>
        <p:nvSpPr>
          <p:cNvPr id="6" name="Shape 3"/>
          <p:cNvSpPr/>
          <p:nvPr/>
        </p:nvSpPr>
        <p:spPr>
          <a:xfrm>
            <a:off x="621792" y="1737360"/>
            <a:ext cx="3200400" cy="384048"/>
          </a:xfrm>
          <a:prstGeom prst="roundRect">
            <a:avLst>
              <a:gd name="adj" fmla="val 50000"/>
            </a:avLst>
          </a:prstGeom>
          <a:solidFill>
            <a:srgbClr val="22D3EE">
              <a:alpha val="18000"/>
            </a:srgbClr>
          </a:solidFill>
          <a:ln w="12700">
            <a:solidFill>
              <a:srgbClr val="22D3EE"/>
            </a:solidFill>
            <a:prstDash val="solid"/>
          </a:ln>
        </p:spPr>
      </p:sp>
      <p:sp>
        <p:nvSpPr>
          <p:cNvPr id="7" name="Text 4"/>
          <p:cNvSpPr/>
          <p:nvPr/>
        </p:nvSpPr>
        <p:spPr>
          <a:xfrm>
            <a:off x="621792" y="1737360"/>
            <a:ext cx="320040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MULTI-AGENT RESEARCH AI</a:t>
            </a:r>
            <a:endParaRPr lang="en-US" sz="1150" dirty="0"/>
          </a:p>
        </p:txBody>
      </p:sp>
      <p:sp>
        <p:nvSpPr>
          <p:cNvPr id="8" name="Text 5"/>
          <p:cNvSpPr/>
          <p:nvPr/>
        </p:nvSpPr>
        <p:spPr>
          <a:xfrm>
            <a:off x="594360" y="2286000"/>
            <a:ext cx="8778240" cy="1920240"/>
          </a:xfrm>
          <a:prstGeom prst="rect">
            <a:avLst/>
          </a:prstGeom>
          <a:noFill/>
          <a:ln/>
        </p:spPr>
        <p:txBody>
          <a:bodyPr wrap="square" lIns="0" tIns="0" rIns="0" bIns="0" rtlCol="0" anchor="ctr"/>
          <a:lstStyle/>
          <a:p>
            <a:pPr indent="0" marL="0">
              <a:lnSpc>
                <a:spcPts val="5600"/>
              </a:lnSpc>
              <a:buNone/>
            </a:pPr>
            <a:r>
              <a:rPr lang="en-US" sz="5200" b="1" dirty="0">
                <a:solidFill>
                  <a:srgbClr val="F5F5F7"/>
                </a:solidFill>
                <a:latin typeface="Calibri" pitchFamily="34" charset="0"/>
                <a:ea typeface="Calibri" pitchFamily="34" charset="-122"/>
                <a:cs typeface="Calibri" pitchFamily="34" charset="-120"/>
              </a:rPr>
              <a:t>An AI research team,</a:t>
            </a:r>
            <a:endParaRPr lang="en-US" sz="5200" dirty="0"/>
          </a:p>
          <a:p>
            <a:pPr indent="0" marL="0">
              <a:lnSpc>
                <a:spcPts val="5600"/>
              </a:lnSpc>
              <a:buNone/>
            </a:pPr>
            <a:r>
              <a:rPr lang="en-US" sz="5200" b="1" dirty="0">
                <a:solidFill>
                  <a:srgbClr val="F5F5F7"/>
                </a:solidFill>
                <a:latin typeface="Calibri" pitchFamily="34" charset="0"/>
                <a:ea typeface="Calibri" pitchFamily="34" charset="-122"/>
                <a:cs typeface="Calibri" pitchFamily="34" charset="-120"/>
              </a:rPr>
              <a:t>not a single model.</a:t>
            </a:r>
            <a:endParaRPr lang="en-US" sz="5200" dirty="0"/>
          </a:p>
        </p:txBody>
      </p:sp>
      <p:sp>
        <p:nvSpPr>
          <p:cNvPr id="9" name="Text 6"/>
          <p:cNvSpPr/>
          <p:nvPr/>
        </p:nvSpPr>
        <p:spPr>
          <a:xfrm>
            <a:off x="594360" y="4343400"/>
            <a:ext cx="7315200" cy="960120"/>
          </a:xfrm>
          <a:prstGeom prst="rect">
            <a:avLst/>
          </a:prstGeom>
          <a:noFill/>
          <a:ln/>
        </p:spPr>
        <p:txBody>
          <a:bodyPr wrap="square" lIns="0" tIns="0" rIns="0" bIns="0" rtlCol="0" anchor="ctr"/>
          <a:lstStyle/>
          <a:p>
            <a:pPr indent="0" marL="0">
              <a:lnSpc>
                <a:spcPts val="2400"/>
              </a:lnSpc>
              <a:buNone/>
            </a:pPr>
            <a:r>
              <a:rPr lang="en-US" sz="1650" dirty="0">
                <a:solidFill>
                  <a:srgbClr val="9CA3AF"/>
                </a:solidFill>
                <a:latin typeface="Calibri" pitchFamily="34" charset="0"/>
                <a:ea typeface="Calibri" pitchFamily="34" charset="-122"/>
                <a:cs typeface="Calibri" pitchFamily="34" charset="-120"/>
              </a:rPr>
              <a:t>Softroy Agent automates literature review, evidence synthesis, hypothesis generation, citation verification, and scientific writing through a coordinated ecosystem of specialized AI agents.</a:t>
            </a:r>
            <a:endParaRPr lang="en-US" sz="1650" dirty="0"/>
          </a:p>
        </p:txBody>
      </p:sp>
      <p:sp>
        <p:nvSpPr>
          <p:cNvPr id="10" name="Text 7"/>
          <p:cNvSpPr/>
          <p:nvPr/>
        </p:nvSpPr>
        <p:spPr>
          <a:xfrm>
            <a:off x="594360" y="5577840"/>
            <a:ext cx="2606040" cy="548640"/>
          </a:xfrm>
          <a:prstGeom prst="rect">
            <a:avLst/>
          </a:prstGeom>
          <a:noFill/>
          <a:ln/>
        </p:spPr>
        <p:txBody>
          <a:bodyPr wrap="square" lIns="0" tIns="0" rIns="0" bIns="0" rtlCol="0" anchor="ctr"/>
          <a:lstStyle/>
          <a:p>
            <a:pPr indent="0" marL="0">
              <a:buNone/>
            </a:pPr>
            <a:r>
              <a:rPr lang="en-US" sz="3000" b="1" dirty="0">
                <a:solidFill>
                  <a:srgbClr val="3B82F6"/>
                </a:solidFill>
                <a:latin typeface="Calibri" pitchFamily="34" charset="0"/>
                <a:ea typeface="Calibri" pitchFamily="34" charset="-122"/>
                <a:cs typeface="Calibri" pitchFamily="34" charset="-120"/>
              </a:rPr>
              <a:t>20</a:t>
            </a:r>
            <a:endParaRPr lang="en-US" sz="3000" dirty="0"/>
          </a:p>
        </p:txBody>
      </p:sp>
      <p:sp>
        <p:nvSpPr>
          <p:cNvPr id="11" name="Text 8"/>
          <p:cNvSpPr/>
          <p:nvPr/>
        </p:nvSpPr>
        <p:spPr>
          <a:xfrm>
            <a:off x="594360" y="6108192"/>
            <a:ext cx="2606040" cy="36576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SPECIALIZED AGENTS</a:t>
            </a:r>
            <a:endParaRPr lang="en-US" sz="1000" dirty="0"/>
          </a:p>
        </p:txBody>
      </p:sp>
      <p:sp>
        <p:nvSpPr>
          <p:cNvPr id="12" name="Shape 9"/>
          <p:cNvSpPr/>
          <p:nvPr/>
        </p:nvSpPr>
        <p:spPr>
          <a:xfrm>
            <a:off x="3063240" y="5623560"/>
            <a:ext cx="0" cy="777240"/>
          </a:xfrm>
          <a:prstGeom prst="line">
            <a:avLst/>
          </a:prstGeom>
          <a:noFill/>
          <a:ln w="12700">
            <a:solidFill>
              <a:srgbClr val="27272E"/>
            </a:solidFill>
            <a:prstDash val="solid"/>
          </a:ln>
        </p:spPr>
      </p:sp>
      <p:sp>
        <p:nvSpPr>
          <p:cNvPr id="13" name="Text 10"/>
          <p:cNvSpPr/>
          <p:nvPr/>
        </p:nvSpPr>
        <p:spPr>
          <a:xfrm>
            <a:off x="3200400" y="5577840"/>
            <a:ext cx="2606040" cy="548640"/>
          </a:xfrm>
          <a:prstGeom prst="rect">
            <a:avLst/>
          </a:prstGeom>
          <a:noFill/>
          <a:ln/>
        </p:spPr>
        <p:txBody>
          <a:bodyPr wrap="square" lIns="0" tIns="0" rIns="0" bIns="0" rtlCol="0" anchor="ctr"/>
          <a:lstStyle/>
          <a:p>
            <a:pPr indent="0" marL="0">
              <a:buNone/>
            </a:pPr>
            <a:r>
              <a:rPr lang="en-US" sz="3000" b="1" dirty="0">
                <a:solidFill>
                  <a:srgbClr val="8B5CF6"/>
                </a:solidFill>
                <a:latin typeface="Calibri" pitchFamily="34" charset="0"/>
                <a:ea typeface="Calibri" pitchFamily="34" charset="-122"/>
                <a:cs typeface="Calibri" pitchFamily="34" charset="-120"/>
              </a:rPr>
              <a:t>5</a:t>
            </a:r>
            <a:endParaRPr lang="en-US" sz="3000" dirty="0"/>
          </a:p>
        </p:txBody>
      </p:sp>
      <p:sp>
        <p:nvSpPr>
          <p:cNvPr id="14" name="Text 11"/>
          <p:cNvSpPr/>
          <p:nvPr/>
        </p:nvSpPr>
        <p:spPr>
          <a:xfrm>
            <a:off x="3200400" y="6108192"/>
            <a:ext cx="2606040" cy="36576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ACADEMIC DATABASES</a:t>
            </a:r>
            <a:endParaRPr lang="en-US" sz="1000" dirty="0"/>
          </a:p>
        </p:txBody>
      </p:sp>
      <p:sp>
        <p:nvSpPr>
          <p:cNvPr id="15" name="Shape 12"/>
          <p:cNvSpPr/>
          <p:nvPr/>
        </p:nvSpPr>
        <p:spPr>
          <a:xfrm>
            <a:off x="5669280" y="5623560"/>
            <a:ext cx="0" cy="777240"/>
          </a:xfrm>
          <a:prstGeom prst="line">
            <a:avLst/>
          </a:prstGeom>
          <a:noFill/>
          <a:ln w="12700">
            <a:solidFill>
              <a:srgbClr val="27272E"/>
            </a:solidFill>
            <a:prstDash val="solid"/>
          </a:ln>
        </p:spPr>
      </p:sp>
      <p:sp>
        <p:nvSpPr>
          <p:cNvPr id="16" name="Text 13"/>
          <p:cNvSpPr/>
          <p:nvPr/>
        </p:nvSpPr>
        <p:spPr>
          <a:xfrm>
            <a:off x="5806440" y="5577840"/>
            <a:ext cx="2606040" cy="548640"/>
          </a:xfrm>
          <a:prstGeom prst="rect">
            <a:avLst/>
          </a:prstGeom>
          <a:noFill/>
          <a:ln/>
        </p:spPr>
        <p:txBody>
          <a:bodyPr wrap="square" lIns="0" tIns="0" rIns="0" bIns="0" rtlCol="0" anchor="ctr"/>
          <a:lstStyle/>
          <a:p>
            <a:pPr indent="0" marL="0">
              <a:buNone/>
            </a:pPr>
            <a:r>
              <a:rPr lang="en-US" sz="3000" b="1" dirty="0">
                <a:solidFill>
                  <a:srgbClr val="22D3EE"/>
                </a:solidFill>
                <a:latin typeface="Calibri" pitchFamily="34" charset="0"/>
                <a:ea typeface="Calibri" pitchFamily="34" charset="-122"/>
                <a:cs typeface="Calibri" pitchFamily="34" charset="-120"/>
              </a:rPr>
              <a:t>11</a:t>
            </a:r>
            <a:endParaRPr lang="en-US" sz="3000" dirty="0"/>
          </a:p>
        </p:txBody>
      </p:sp>
      <p:sp>
        <p:nvSpPr>
          <p:cNvPr id="17" name="Text 14"/>
          <p:cNvSpPr/>
          <p:nvPr/>
        </p:nvSpPr>
        <p:spPr>
          <a:xfrm>
            <a:off x="5806440" y="6108192"/>
            <a:ext cx="2606040" cy="36576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WORKFLOW PHASES</a:t>
            </a:r>
            <a:endParaRPr lang="en-US" sz="1000" dirty="0"/>
          </a:p>
        </p:txBody>
      </p:sp>
      <p:sp>
        <p:nvSpPr>
          <p:cNvPr id="18" name="Shape 15"/>
          <p:cNvSpPr/>
          <p:nvPr/>
        </p:nvSpPr>
        <p:spPr>
          <a:xfrm>
            <a:off x="8275320" y="5623560"/>
            <a:ext cx="0" cy="777240"/>
          </a:xfrm>
          <a:prstGeom prst="line">
            <a:avLst/>
          </a:prstGeom>
          <a:noFill/>
          <a:ln w="12700">
            <a:solidFill>
              <a:srgbClr val="27272E"/>
            </a:solidFill>
            <a:prstDash val="solid"/>
          </a:ln>
        </p:spPr>
      </p:sp>
      <p:sp>
        <p:nvSpPr>
          <p:cNvPr id="19" name="Text 16"/>
          <p:cNvSpPr/>
          <p:nvPr/>
        </p:nvSpPr>
        <p:spPr>
          <a:xfrm>
            <a:off x="8412480" y="5577840"/>
            <a:ext cx="2606040" cy="548640"/>
          </a:xfrm>
          <a:prstGeom prst="rect">
            <a:avLst/>
          </a:prstGeom>
          <a:noFill/>
          <a:ln/>
        </p:spPr>
        <p:txBody>
          <a:bodyPr wrap="square" lIns="0" tIns="0" rIns="0" bIns="0" rtlCol="0" anchor="ctr"/>
          <a:lstStyle/>
          <a:p>
            <a:pPr indent="0" marL="0">
              <a:buNone/>
            </a:pPr>
            <a:r>
              <a:rPr lang="en-US" sz="3000" b="1" dirty="0">
                <a:solidFill>
                  <a:srgbClr val="34D399"/>
                </a:solidFill>
                <a:latin typeface="Calibri" pitchFamily="34" charset="0"/>
                <a:ea typeface="Calibri" pitchFamily="34" charset="-122"/>
                <a:cs typeface="Calibri" pitchFamily="34" charset="-120"/>
              </a:rPr>
              <a:t>&gt;98%</a:t>
            </a:r>
            <a:endParaRPr lang="en-US" sz="3000" dirty="0"/>
          </a:p>
        </p:txBody>
      </p:sp>
      <p:sp>
        <p:nvSpPr>
          <p:cNvPr id="20" name="Text 17"/>
          <p:cNvSpPr/>
          <p:nvPr/>
        </p:nvSpPr>
        <p:spPr>
          <a:xfrm>
            <a:off x="8412480" y="6108192"/>
            <a:ext cx="2606040" cy="36576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CITATION PRECISION TARGET</a:t>
            </a:r>
            <a:endParaRPr lang="en-US" sz="1000" dirty="0"/>
          </a:p>
        </p:txBody>
      </p:sp>
      <p:sp>
        <p:nvSpPr>
          <p:cNvPr id="21" name="Text 18"/>
          <p:cNvSpPr/>
          <p:nvPr/>
        </p:nvSpPr>
        <p:spPr>
          <a:xfrm>
            <a:off x="8869680" y="6446520"/>
            <a:ext cx="2743200" cy="274320"/>
          </a:xfrm>
          <a:prstGeom prst="rect">
            <a:avLst/>
          </a:prstGeom>
          <a:noFill/>
          <a:ln/>
        </p:spPr>
        <p:txBody>
          <a:bodyPr wrap="square" lIns="0" tIns="0" rIns="0" bIns="0"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University Final Year Project  ·  Technical Review  ·  Research Presentation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WHY SOFTROY AGENT</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Research is slow. AI research tools are shallow.</a:t>
            </a:r>
            <a:endParaRPr lang="en-US" sz="3400" dirty="0"/>
          </a:p>
        </p:txBody>
      </p:sp>
      <p:sp>
        <p:nvSpPr>
          <p:cNvPr id="5" name="Text 2"/>
          <p:cNvSpPr/>
          <p:nvPr/>
        </p:nvSpPr>
        <p:spPr>
          <a:xfrm>
            <a:off x="548640" y="1691640"/>
            <a:ext cx="5303520" cy="320040"/>
          </a:xfrm>
          <a:prstGeom prst="rect">
            <a:avLst/>
          </a:prstGeom>
          <a:noFill/>
          <a:ln/>
        </p:spPr>
        <p:txBody>
          <a:bodyPr wrap="square" lIns="0" tIns="0" rIns="0" bIns="0" rtlCol="0" anchor="ctr"/>
          <a:lstStyle/>
          <a:p>
            <a:pPr indent="0" marL="0">
              <a:buNone/>
            </a:pPr>
            <a:r>
              <a:rPr lang="en-US" sz="1300" b="1" spc="150" kern="0" dirty="0">
                <a:solidFill>
                  <a:srgbClr val="F87171"/>
                </a:solidFill>
                <a:latin typeface="Calibri" pitchFamily="34" charset="0"/>
                <a:ea typeface="Calibri" pitchFamily="34" charset="-122"/>
                <a:cs typeface="Calibri" pitchFamily="34" charset="-120"/>
              </a:rPr>
              <a:t>THE PROBLEM</a:t>
            </a:r>
            <a:endParaRPr lang="en-US" sz="1300" dirty="0"/>
          </a:p>
        </p:txBody>
      </p:sp>
      <p:sp>
        <p:nvSpPr>
          <p:cNvPr id="6" name="Shape 3"/>
          <p:cNvSpPr/>
          <p:nvPr/>
        </p:nvSpPr>
        <p:spPr>
          <a:xfrm>
            <a:off x="548640" y="2103120"/>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868680" y="2386584"/>
            <a:ext cx="365760" cy="365760"/>
          </a:xfrm>
          <a:prstGeom prst="ellipse">
            <a:avLst/>
          </a:prstGeom>
          <a:solidFill>
            <a:srgbClr val="F87171">
              <a:alpha val="22000"/>
            </a:srgbClr>
          </a:solidFill>
          <a:ln w="15875">
            <a:solidFill>
              <a:srgbClr val="F87171"/>
            </a:solidFill>
            <a:prstDash val="solid"/>
          </a:ln>
        </p:spPr>
      </p:sp>
      <p:sp>
        <p:nvSpPr>
          <p:cNvPr id="8" name="Text 5"/>
          <p:cNvSpPr/>
          <p:nvPr/>
        </p:nvSpPr>
        <p:spPr>
          <a:xfrm>
            <a:off x="868680" y="2386584"/>
            <a:ext cx="365760" cy="365760"/>
          </a:xfrm>
          <a:prstGeom prst="rect">
            <a:avLst/>
          </a:prstGeom>
          <a:noFill/>
          <a:ln/>
        </p:spPr>
        <p:txBody>
          <a:bodyPr wrap="square" lIns="0" tIns="0" rIns="0" bIns="0" rtlCol="0" anchor="ctr"/>
          <a:lstStyle/>
          <a:p>
            <a:pPr algn="ctr" indent="0" marL="0">
              <a:buNone/>
            </a:pPr>
            <a:r>
              <a:rPr lang="en-US" sz="1400" b="1" dirty="0">
                <a:solidFill>
                  <a:srgbClr val="F87171"/>
                </a:solidFill>
                <a:latin typeface="Arial" pitchFamily="34" charset="0"/>
                <a:ea typeface="Arial" pitchFamily="34" charset="-122"/>
                <a:cs typeface="Arial" pitchFamily="34" charset="-120"/>
              </a:rPr>
              <a:t>!</a:t>
            </a:r>
            <a:endParaRPr lang="en-US" sz="1400" dirty="0"/>
          </a:p>
        </p:txBody>
      </p:sp>
      <p:sp>
        <p:nvSpPr>
          <p:cNvPr id="9" name="Text 6"/>
          <p:cNvSpPr/>
          <p:nvPr/>
        </p:nvSpPr>
        <p:spPr>
          <a:xfrm>
            <a:off x="1417320" y="2212848"/>
            <a:ext cx="425196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Single-model architecture</a:t>
            </a:r>
            <a:endParaRPr lang="en-US" sz="1450" dirty="0"/>
          </a:p>
        </p:txBody>
      </p:sp>
      <p:sp>
        <p:nvSpPr>
          <p:cNvPr id="10" name="Text 7"/>
          <p:cNvSpPr/>
          <p:nvPr/>
        </p:nvSpPr>
        <p:spPr>
          <a:xfrm>
            <a:off x="1417320" y="2523744"/>
            <a:ext cx="425196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One LLM handles retrieval, analysis, and writing with no specialization.</a:t>
            </a:r>
            <a:endParaRPr lang="en-US" sz="1150" dirty="0"/>
          </a:p>
        </p:txBody>
      </p:sp>
      <p:sp>
        <p:nvSpPr>
          <p:cNvPr id="11" name="Shape 8"/>
          <p:cNvSpPr/>
          <p:nvPr/>
        </p:nvSpPr>
        <p:spPr>
          <a:xfrm>
            <a:off x="548640" y="3163824"/>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868680" y="3447288"/>
            <a:ext cx="365760" cy="365760"/>
          </a:xfrm>
          <a:prstGeom prst="ellipse">
            <a:avLst/>
          </a:prstGeom>
          <a:solidFill>
            <a:srgbClr val="F87171">
              <a:alpha val="22000"/>
            </a:srgbClr>
          </a:solidFill>
          <a:ln w="15875">
            <a:solidFill>
              <a:srgbClr val="F87171"/>
            </a:solidFill>
            <a:prstDash val="solid"/>
          </a:ln>
        </p:spPr>
      </p:sp>
      <p:sp>
        <p:nvSpPr>
          <p:cNvPr id="13" name="Text 10"/>
          <p:cNvSpPr/>
          <p:nvPr/>
        </p:nvSpPr>
        <p:spPr>
          <a:xfrm>
            <a:off x="868680" y="3447288"/>
            <a:ext cx="365760" cy="365760"/>
          </a:xfrm>
          <a:prstGeom prst="rect">
            <a:avLst/>
          </a:prstGeom>
          <a:noFill/>
          <a:ln/>
        </p:spPr>
        <p:txBody>
          <a:bodyPr wrap="square" lIns="0" tIns="0" rIns="0" bIns="0" rtlCol="0" anchor="ctr"/>
          <a:lstStyle/>
          <a:p>
            <a:pPr algn="ctr" indent="0" marL="0">
              <a:buNone/>
            </a:pPr>
            <a:r>
              <a:rPr lang="en-US" sz="1400" b="1" dirty="0">
                <a:solidFill>
                  <a:srgbClr val="F87171"/>
                </a:solidFill>
                <a:latin typeface="Arial" pitchFamily="34" charset="0"/>
                <a:ea typeface="Arial" pitchFamily="34" charset="-122"/>
                <a:cs typeface="Arial" pitchFamily="34" charset="-120"/>
              </a:rPr>
              <a:t>!</a:t>
            </a:r>
            <a:endParaRPr lang="en-US" sz="1400" dirty="0"/>
          </a:p>
        </p:txBody>
      </p:sp>
      <p:sp>
        <p:nvSpPr>
          <p:cNvPr id="14" name="Text 11"/>
          <p:cNvSpPr/>
          <p:nvPr/>
        </p:nvSpPr>
        <p:spPr>
          <a:xfrm>
            <a:off x="1417320" y="3273552"/>
            <a:ext cx="425196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Fabricated citations</a:t>
            </a:r>
            <a:endParaRPr lang="en-US" sz="1450" dirty="0"/>
          </a:p>
        </p:txBody>
      </p:sp>
      <p:sp>
        <p:nvSpPr>
          <p:cNvPr id="15" name="Text 12"/>
          <p:cNvSpPr/>
          <p:nvPr/>
        </p:nvSpPr>
        <p:spPr>
          <a:xfrm>
            <a:off x="1417320" y="3584448"/>
            <a:ext cx="425196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Unverified references and hallucinated claims slip into outputs.</a:t>
            </a:r>
            <a:endParaRPr lang="en-US" sz="1150" dirty="0"/>
          </a:p>
        </p:txBody>
      </p:sp>
      <p:sp>
        <p:nvSpPr>
          <p:cNvPr id="16" name="Shape 13"/>
          <p:cNvSpPr/>
          <p:nvPr/>
        </p:nvSpPr>
        <p:spPr>
          <a:xfrm>
            <a:off x="548640" y="4224528"/>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7" name="Shape 14"/>
          <p:cNvSpPr/>
          <p:nvPr/>
        </p:nvSpPr>
        <p:spPr>
          <a:xfrm>
            <a:off x="868680" y="4507992"/>
            <a:ext cx="365760" cy="365760"/>
          </a:xfrm>
          <a:prstGeom prst="ellipse">
            <a:avLst/>
          </a:prstGeom>
          <a:solidFill>
            <a:srgbClr val="F87171">
              <a:alpha val="22000"/>
            </a:srgbClr>
          </a:solidFill>
          <a:ln w="15875">
            <a:solidFill>
              <a:srgbClr val="F87171"/>
            </a:solidFill>
            <a:prstDash val="solid"/>
          </a:ln>
        </p:spPr>
      </p:sp>
      <p:sp>
        <p:nvSpPr>
          <p:cNvPr id="18" name="Text 15"/>
          <p:cNvSpPr/>
          <p:nvPr/>
        </p:nvSpPr>
        <p:spPr>
          <a:xfrm>
            <a:off x="868680" y="4507992"/>
            <a:ext cx="365760" cy="365760"/>
          </a:xfrm>
          <a:prstGeom prst="rect">
            <a:avLst/>
          </a:prstGeom>
          <a:noFill/>
          <a:ln/>
        </p:spPr>
        <p:txBody>
          <a:bodyPr wrap="square" lIns="0" tIns="0" rIns="0" bIns="0" rtlCol="0" anchor="ctr"/>
          <a:lstStyle/>
          <a:p>
            <a:pPr algn="ctr" indent="0" marL="0">
              <a:buNone/>
            </a:pPr>
            <a:r>
              <a:rPr lang="en-US" sz="1400" b="1" dirty="0">
                <a:solidFill>
                  <a:srgbClr val="F87171"/>
                </a:solidFill>
                <a:latin typeface="Arial" pitchFamily="34" charset="0"/>
                <a:ea typeface="Arial" pitchFamily="34" charset="-122"/>
                <a:cs typeface="Arial" pitchFamily="34" charset="-120"/>
              </a:rPr>
              <a:t>!</a:t>
            </a:r>
            <a:endParaRPr lang="en-US" sz="1400" dirty="0"/>
          </a:p>
        </p:txBody>
      </p:sp>
      <p:sp>
        <p:nvSpPr>
          <p:cNvPr id="19" name="Text 16"/>
          <p:cNvSpPr/>
          <p:nvPr/>
        </p:nvSpPr>
        <p:spPr>
          <a:xfrm>
            <a:off x="1417320" y="4334256"/>
            <a:ext cx="425196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Static, wasteful workflows</a:t>
            </a:r>
            <a:endParaRPr lang="en-US" sz="1450" dirty="0"/>
          </a:p>
        </p:txBody>
      </p:sp>
      <p:sp>
        <p:nvSpPr>
          <p:cNvPr id="20" name="Text 17"/>
          <p:cNvSpPr/>
          <p:nvPr/>
        </p:nvSpPr>
        <p:spPr>
          <a:xfrm>
            <a:off x="1417320" y="4645152"/>
            <a:ext cx="425196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Fixed pipelines run every step, even ones the query doesn't need.</a:t>
            </a:r>
            <a:endParaRPr lang="en-US" sz="1150" dirty="0"/>
          </a:p>
        </p:txBody>
      </p:sp>
      <p:sp>
        <p:nvSpPr>
          <p:cNvPr id="21" name="Shape 18"/>
          <p:cNvSpPr/>
          <p:nvPr/>
        </p:nvSpPr>
        <p:spPr>
          <a:xfrm>
            <a:off x="548640" y="5285232"/>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2" name="Shape 19"/>
          <p:cNvSpPr/>
          <p:nvPr/>
        </p:nvSpPr>
        <p:spPr>
          <a:xfrm>
            <a:off x="868680" y="5568696"/>
            <a:ext cx="365760" cy="365760"/>
          </a:xfrm>
          <a:prstGeom prst="ellipse">
            <a:avLst/>
          </a:prstGeom>
          <a:solidFill>
            <a:srgbClr val="F87171">
              <a:alpha val="22000"/>
            </a:srgbClr>
          </a:solidFill>
          <a:ln w="15875">
            <a:solidFill>
              <a:srgbClr val="F87171"/>
            </a:solidFill>
            <a:prstDash val="solid"/>
          </a:ln>
        </p:spPr>
      </p:sp>
      <p:sp>
        <p:nvSpPr>
          <p:cNvPr id="23" name="Text 20"/>
          <p:cNvSpPr/>
          <p:nvPr/>
        </p:nvSpPr>
        <p:spPr>
          <a:xfrm>
            <a:off x="868680" y="5568696"/>
            <a:ext cx="365760" cy="365760"/>
          </a:xfrm>
          <a:prstGeom prst="rect">
            <a:avLst/>
          </a:prstGeom>
          <a:noFill/>
          <a:ln/>
        </p:spPr>
        <p:txBody>
          <a:bodyPr wrap="square" lIns="0" tIns="0" rIns="0" bIns="0" rtlCol="0" anchor="ctr"/>
          <a:lstStyle/>
          <a:p>
            <a:pPr algn="ctr" indent="0" marL="0">
              <a:buNone/>
            </a:pPr>
            <a:r>
              <a:rPr lang="en-US" sz="1400" b="1" dirty="0">
                <a:solidFill>
                  <a:srgbClr val="F87171"/>
                </a:solidFill>
                <a:latin typeface="Arial" pitchFamily="34" charset="0"/>
                <a:ea typeface="Arial" pitchFamily="34" charset="-122"/>
                <a:cs typeface="Arial" pitchFamily="34" charset="-120"/>
              </a:rPr>
              <a:t>!</a:t>
            </a:r>
            <a:endParaRPr lang="en-US" sz="1400" dirty="0"/>
          </a:p>
        </p:txBody>
      </p:sp>
      <p:sp>
        <p:nvSpPr>
          <p:cNvPr id="24" name="Text 21"/>
          <p:cNvSpPr/>
          <p:nvPr/>
        </p:nvSpPr>
        <p:spPr>
          <a:xfrm>
            <a:off x="1417320" y="5394960"/>
            <a:ext cx="425196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No contradiction handling</a:t>
            </a:r>
            <a:endParaRPr lang="en-US" sz="1450" dirty="0"/>
          </a:p>
        </p:txBody>
      </p:sp>
      <p:sp>
        <p:nvSpPr>
          <p:cNvPr id="25" name="Text 22"/>
          <p:cNvSpPr/>
          <p:nvPr/>
        </p:nvSpPr>
        <p:spPr>
          <a:xfrm>
            <a:off x="1417320" y="5705856"/>
            <a:ext cx="425196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Conflicting evidence across papers goes undetected and unresolved.</a:t>
            </a:r>
            <a:endParaRPr lang="en-US" sz="1150" dirty="0"/>
          </a:p>
        </p:txBody>
      </p:sp>
      <p:sp>
        <p:nvSpPr>
          <p:cNvPr id="26" name="Text 23"/>
          <p:cNvSpPr/>
          <p:nvPr/>
        </p:nvSpPr>
        <p:spPr>
          <a:xfrm>
            <a:off x="6309360" y="1691640"/>
            <a:ext cx="5303520" cy="320040"/>
          </a:xfrm>
          <a:prstGeom prst="rect">
            <a:avLst/>
          </a:prstGeom>
          <a:noFill/>
          <a:ln/>
        </p:spPr>
        <p:txBody>
          <a:bodyPr wrap="square" lIns="0" tIns="0" rIns="0" bIns="0" rtlCol="0" anchor="ctr"/>
          <a:lstStyle/>
          <a:p>
            <a:pPr indent="0" marL="0">
              <a:buNone/>
            </a:pPr>
            <a:r>
              <a:rPr lang="en-US" sz="1300" b="1" spc="150" kern="0" dirty="0">
                <a:solidFill>
                  <a:srgbClr val="34D399"/>
                </a:solidFill>
                <a:latin typeface="Calibri" pitchFamily="34" charset="0"/>
                <a:ea typeface="Calibri" pitchFamily="34" charset="-122"/>
                <a:cs typeface="Calibri" pitchFamily="34" charset="-120"/>
              </a:rPr>
              <a:t>THE SOLUTION</a:t>
            </a:r>
            <a:endParaRPr lang="en-US" sz="1300" dirty="0"/>
          </a:p>
        </p:txBody>
      </p:sp>
      <p:sp>
        <p:nvSpPr>
          <p:cNvPr id="27" name="Shape 24"/>
          <p:cNvSpPr/>
          <p:nvPr/>
        </p:nvSpPr>
        <p:spPr>
          <a:xfrm>
            <a:off x="6309360" y="2103120"/>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8" name="Shape 25"/>
          <p:cNvSpPr/>
          <p:nvPr/>
        </p:nvSpPr>
        <p:spPr>
          <a:xfrm>
            <a:off x="6629400" y="2386584"/>
            <a:ext cx="365760" cy="365760"/>
          </a:xfrm>
          <a:prstGeom prst="ellipse">
            <a:avLst/>
          </a:prstGeom>
          <a:solidFill>
            <a:srgbClr val="34D399">
              <a:alpha val="22000"/>
            </a:srgbClr>
          </a:solidFill>
          <a:ln w="15875">
            <a:solidFill>
              <a:srgbClr val="34D399"/>
            </a:solidFill>
            <a:prstDash val="solid"/>
          </a:ln>
        </p:spPr>
      </p:sp>
      <p:sp>
        <p:nvSpPr>
          <p:cNvPr id="29" name="Text 26"/>
          <p:cNvSpPr/>
          <p:nvPr/>
        </p:nvSpPr>
        <p:spPr>
          <a:xfrm>
            <a:off x="6629400" y="2386584"/>
            <a:ext cx="365760" cy="365760"/>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30" name="Text 27"/>
          <p:cNvSpPr/>
          <p:nvPr/>
        </p:nvSpPr>
        <p:spPr>
          <a:xfrm>
            <a:off x="7178040" y="2212848"/>
            <a:ext cx="434340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Request Router + adaptive DAG</a:t>
            </a:r>
            <a:endParaRPr lang="en-US" sz="1450" dirty="0"/>
          </a:p>
        </p:txBody>
      </p:sp>
      <p:sp>
        <p:nvSpPr>
          <p:cNvPr id="31" name="Text 28"/>
          <p:cNvSpPr/>
          <p:nvPr/>
        </p:nvSpPr>
        <p:spPr>
          <a:xfrm>
            <a:off x="7178040" y="2523744"/>
            <a:ext cx="434340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Classifies intent and executes only the agents a query actually needs.</a:t>
            </a:r>
            <a:endParaRPr lang="en-US" sz="1150" dirty="0"/>
          </a:p>
        </p:txBody>
      </p:sp>
      <p:sp>
        <p:nvSpPr>
          <p:cNvPr id="32" name="Shape 29"/>
          <p:cNvSpPr/>
          <p:nvPr/>
        </p:nvSpPr>
        <p:spPr>
          <a:xfrm>
            <a:off x="6309360" y="3163824"/>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3" name="Shape 30"/>
          <p:cNvSpPr/>
          <p:nvPr/>
        </p:nvSpPr>
        <p:spPr>
          <a:xfrm>
            <a:off x="6629400" y="3447288"/>
            <a:ext cx="365760" cy="365760"/>
          </a:xfrm>
          <a:prstGeom prst="ellipse">
            <a:avLst/>
          </a:prstGeom>
          <a:solidFill>
            <a:srgbClr val="34D399">
              <a:alpha val="22000"/>
            </a:srgbClr>
          </a:solidFill>
          <a:ln w="15875">
            <a:solidFill>
              <a:srgbClr val="34D399"/>
            </a:solidFill>
            <a:prstDash val="solid"/>
          </a:ln>
        </p:spPr>
      </p:sp>
      <p:sp>
        <p:nvSpPr>
          <p:cNvPr id="34" name="Text 31"/>
          <p:cNvSpPr/>
          <p:nvPr/>
        </p:nvSpPr>
        <p:spPr>
          <a:xfrm>
            <a:off x="6629400" y="3447288"/>
            <a:ext cx="365760" cy="365760"/>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35" name="Text 32"/>
          <p:cNvSpPr/>
          <p:nvPr/>
        </p:nvSpPr>
        <p:spPr>
          <a:xfrm>
            <a:off x="7178040" y="3273552"/>
            <a:ext cx="434340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Multi-agent consensus</a:t>
            </a:r>
            <a:endParaRPr lang="en-US" sz="1450" dirty="0"/>
          </a:p>
        </p:txBody>
      </p:sp>
      <p:sp>
        <p:nvSpPr>
          <p:cNvPr id="36" name="Text 33"/>
          <p:cNvSpPr/>
          <p:nvPr/>
        </p:nvSpPr>
        <p:spPr>
          <a:xfrm>
            <a:off x="7178040" y="3584448"/>
            <a:ext cx="434340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Debate &amp; Consensus Agent weighs evidence before any claim is accepted.</a:t>
            </a:r>
            <a:endParaRPr lang="en-US" sz="1150" dirty="0"/>
          </a:p>
        </p:txBody>
      </p:sp>
      <p:sp>
        <p:nvSpPr>
          <p:cNvPr id="37" name="Shape 34"/>
          <p:cNvSpPr/>
          <p:nvPr/>
        </p:nvSpPr>
        <p:spPr>
          <a:xfrm>
            <a:off x="6309360" y="4224528"/>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8" name="Shape 35"/>
          <p:cNvSpPr/>
          <p:nvPr/>
        </p:nvSpPr>
        <p:spPr>
          <a:xfrm>
            <a:off x="6629400" y="4507992"/>
            <a:ext cx="365760" cy="365760"/>
          </a:xfrm>
          <a:prstGeom prst="ellipse">
            <a:avLst/>
          </a:prstGeom>
          <a:solidFill>
            <a:srgbClr val="34D399">
              <a:alpha val="22000"/>
            </a:srgbClr>
          </a:solidFill>
          <a:ln w="15875">
            <a:solidFill>
              <a:srgbClr val="34D399"/>
            </a:solidFill>
            <a:prstDash val="solid"/>
          </a:ln>
        </p:spPr>
      </p:sp>
      <p:sp>
        <p:nvSpPr>
          <p:cNvPr id="39" name="Text 36"/>
          <p:cNvSpPr/>
          <p:nvPr/>
        </p:nvSpPr>
        <p:spPr>
          <a:xfrm>
            <a:off x="6629400" y="4507992"/>
            <a:ext cx="365760" cy="365760"/>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40" name="Text 37"/>
          <p:cNvSpPr/>
          <p:nvPr/>
        </p:nvSpPr>
        <p:spPr>
          <a:xfrm>
            <a:off x="7178040" y="4334256"/>
            <a:ext cx="434340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Hybrid RAG + Knowledge Graph</a:t>
            </a:r>
            <a:endParaRPr lang="en-US" sz="1450" dirty="0"/>
          </a:p>
        </p:txBody>
      </p:sp>
      <p:sp>
        <p:nvSpPr>
          <p:cNvPr id="41" name="Text 38"/>
          <p:cNvSpPr/>
          <p:nvPr/>
        </p:nvSpPr>
        <p:spPr>
          <a:xfrm>
            <a:off x="7178040" y="4645152"/>
            <a:ext cx="434340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BGE-M3 vector search + Neo4j relationships ground every generated claim.</a:t>
            </a:r>
            <a:endParaRPr lang="en-US" sz="1150" dirty="0"/>
          </a:p>
        </p:txBody>
      </p:sp>
      <p:sp>
        <p:nvSpPr>
          <p:cNvPr id="42" name="Shape 39"/>
          <p:cNvSpPr/>
          <p:nvPr/>
        </p:nvSpPr>
        <p:spPr>
          <a:xfrm>
            <a:off x="6309360" y="5285232"/>
            <a:ext cx="5303520" cy="932688"/>
          </a:xfrm>
          <a:prstGeom prst="roundRect">
            <a:avLst>
              <a:gd name="adj" fmla="val 11765"/>
            </a:avLst>
          </a:prstGeom>
          <a:solidFill>
            <a:srgbClr val="141417">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3" name="Shape 40"/>
          <p:cNvSpPr/>
          <p:nvPr/>
        </p:nvSpPr>
        <p:spPr>
          <a:xfrm>
            <a:off x="6629400" y="5568696"/>
            <a:ext cx="365760" cy="365760"/>
          </a:xfrm>
          <a:prstGeom prst="ellipse">
            <a:avLst/>
          </a:prstGeom>
          <a:solidFill>
            <a:srgbClr val="34D399">
              <a:alpha val="22000"/>
            </a:srgbClr>
          </a:solidFill>
          <a:ln w="15875">
            <a:solidFill>
              <a:srgbClr val="34D399"/>
            </a:solidFill>
            <a:prstDash val="solid"/>
          </a:ln>
        </p:spPr>
      </p:sp>
      <p:sp>
        <p:nvSpPr>
          <p:cNvPr id="44" name="Text 41"/>
          <p:cNvSpPr/>
          <p:nvPr/>
        </p:nvSpPr>
        <p:spPr>
          <a:xfrm>
            <a:off x="6629400" y="5568696"/>
            <a:ext cx="365760" cy="365760"/>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45" name="Text 42"/>
          <p:cNvSpPr/>
          <p:nvPr/>
        </p:nvSpPr>
        <p:spPr>
          <a:xfrm>
            <a:off x="7178040" y="5394960"/>
            <a:ext cx="4343400" cy="310896"/>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DOI-verified citations</a:t>
            </a:r>
            <a:endParaRPr lang="en-US" sz="1450" dirty="0"/>
          </a:p>
        </p:txBody>
      </p:sp>
      <p:sp>
        <p:nvSpPr>
          <p:cNvPr id="46" name="Text 43"/>
          <p:cNvSpPr/>
          <p:nvPr/>
        </p:nvSpPr>
        <p:spPr>
          <a:xfrm>
            <a:off x="7178040" y="5705856"/>
            <a:ext cx="4343400" cy="457200"/>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Crossref cross-referencing removes or flags unverifiable references.</a:t>
            </a:r>
            <a:endParaRPr lang="en-US" sz="1150" dirty="0"/>
          </a:p>
        </p:txBody>
      </p:sp>
      <p:sp>
        <p:nvSpPr>
          <p:cNvPr id="47" name="Shape 44"/>
          <p:cNvSpPr/>
          <p:nvPr/>
        </p:nvSpPr>
        <p:spPr>
          <a:xfrm>
            <a:off x="548640" y="6108192"/>
            <a:ext cx="11091672" cy="566928"/>
          </a:xfrm>
          <a:prstGeom prst="roundRect">
            <a:avLst>
              <a:gd name="adj" fmla="val 16129"/>
            </a:avLst>
          </a:prstGeom>
          <a:solidFill>
            <a:srgbClr val="1A1A1F">
              <a:alpha val="90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8" name="Text 45"/>
          <p:cNvSpPr/>
          <p:nvPr/>
        </p:nvSpPr>
        <p:spPr>
          <a:xfrm>
            <a:off x="822960" y="6108192"/>
            <a:ext cx="10607040" cy="56692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VISION   </a:t>
            </a:r>
            <a:pPr indent="0" marL="0">
              <a:buNone/>
            </a:pPr>
            <a:r>
              <a:rPr lang="en-US" sz="1150" dirty="0">
                <a:solidFill>
                  <a:srgbClr val="9CA3AF"/>
                </a:solidFill>
                <a:latin typeface="Calibri" pitchFamily="34" charset="0"/>
                <a:ea typeface="Calibri" pitchFamily="34" charset="-122"/>
                <a:cs typeface="Calibri" pitchFamily="34" charset="-120"/>
              </a:rPr>
              <a:t>The leading open-source platform for trustworthy, explainable, cost-efficient academic research automation.</a:t>
            </a:r>
            <a:endParaRPr lang="en-US" sz="1100" dirty="0"/>
          </a:p>
        </p:txBody>
      </p:sp>
      <p:sp>
        <p:nvSpPr>
          <p:cNvPr id="49" name="Text 46"/>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 / 10</a:t>
            </a:r>
            <a:endParaRPr lang="en-US" sz="1000" dirty="0"/>
          </a:p>
        </p:txBody>
      </p:sp>
      <p:sp>
        <p:nvSpPr>
          <p:cNvPr id="50" name="Text 47"/>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SYSTEM OVERVIEW</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One request. A coordinated pipeline of intelligence.</a:t>
            </a:r>
            <a:endParaRPr lang="en-US" sz="3400" dirty="0"/>
          </a:p>
        </p:txBody>
      </p:sp>
      <p:sp>
        <p:nvSpPr>
          <p:cNvPr id="5" name="Shape 2"/>
          <p:cNvSpPr/>
          <p:nvPr/>
        </p:nvSpPr>
        <p:spPr>
          <a:xfrm>
            <a:off x="627736" y="178308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 name="Shape 3"/>
          <p:cNvSpPr/>
          <p:nvPr/>
        </p:nvSpPr>
        <p:spPr>
          <a:xfrm>
            <a:off x="627736" y="1783080"/>
            <a:ext cx="64008" cy="1078992"/>
          </a:xfrm>
          <a:prstGeom prst="roundRect">
            <a:avLst>
              <a:gd name="adj" fmla="val 42857"/>
            </a:avLst>
          </a:prstGeom>
          <a:solidFill>
            <a:srgbClr val="3B82F6"/>
          </a:solidFill>
          <a:ln/>
        </p:spPr>
      </p:sp>
      <p:sp>
        <p:nvSpPr>
          <p:cNvPr id="7" name="Text 4"/>
          <p:cNvSpPr/>
          <p:nvPr/>
        </p:nvSpPr>
        <p:spPr>
          <a:xfrm>
            <a:off x="792328" y="1874520"/>
            <a:ext cx="457200" cy="274320"/>
          </a:xfrm>
          <a:prstGeom prst="rect">
            <a:avLst/>
          </a:prstGeom>
          <a:noFill/>
          <a:ln/>
        </p:spPr>
        <p:txBody>
          <a:bodyPr wrap="square" lIns="0" tIns="0" rIns="0" bIns="0"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1</a:t>
            </a:r>
            <a:endParaRPr lang="en-US" sz="1050" dirty="0"/>
          </a:p>
        </p:txBody>
      </p:sp>
      <p:sp>
        <p:nvSpPr>
          <p:cNvPr id="8" name="Text 5"/>
          <p:cNvSpPr/>
          <p:nvPr/>
        </p:nvSpPr>
        <p:spPr>
          <a:xfrm>
            <a:off x="792328" y="211226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User</a:t>
            </a:r>
            <a:endParaRPr lang="en-US" sz="1350" dirty="0"/>
          </a:p>
        </p:txBody>
      </p:sp>
      <p:sp>
        <p:nvSpPr>
          <p:cNvPr id="9" name="Text 6"/>
          <p:cNvSpPr/>
          <p:nvPr/>
        </p:nvSpPr>
        <p:spPr>
          <a:xfrm>
            <a:off x="792328" y="249631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Research question, PDF upload, or workflow start</a:t>
            </a:r>
            <a:endParaRPr lang="en-US" sz="950" dirty="0"/>
          </a:p>
        </p:txBody>
      </p:sp>
      <p:sp>
        <p:nvSpPr>
          <p:cNvPr id="10" name="Shape 7"/>
          <p:cNvSpPr/>
          <p:nvPr/>
        </p:nvSpPr>
        <p:spPr>
          <a:xfrm>
            <a:off x="3169768" y="2322576"/>
            <a:ext cx="256032" cy="0"/>
          </a:xfrm>
          <a:prstGeom prst="line">
            <a:avLst/>
          </a:prstGeom>
          <a:noFill/>
          <a:ln w="19050">
            <a:solidFill>
              <a:srgbClr val="27272E"/>
            </a:solidFill>
            <a:prstDash val="solid"/>
            <a:tailEnd type="triangle"/>
          </a:ln>
        </p:spPr>
      </p:sp>
      <p:sp>
        <p:nvSpPr>
          <p:cNvPr id="11" name="Shape 8"/>
          <p:cNvSpPr/>
          <p:nvPr/>
        </p:nvSpPr>
        <p:spPr>
          <a:xfrm>
            <a:off x="3425800" y="178308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3425800" y="1783080"/>
            <a:ext cx="64008" cy="1078992"/>
          </a:xfrm>
          <a:prstGeom prst="roundRect">
            <a:avLst>
              <a:gd name="adj" fmla="val 42857"/>
            </a:avLst>
          </a:prstGeom>
          <a:solidFill>
            <a:srgbClr val="3B82F6"/>
          </a:solidFill>
          <a:ln/>
        </p:spPr>
      </p:sp>
      <p:sp>
        <p:nvSpPr>
          <p:cNvPr id="13" name="Text 10"/>
          <p:cNvSpPr/>
          <p:nvPr/>
        </p:nvSpPr>
        <p:spPr>
          <a:xfrm>
            <a:off x="3590392" y="1874520"/>
            <a:ext cx="457200" cy="274320"/>
          </a:xfrm>
          <a:prstGeom prst="rect">
            <a:avLst/>
          </a:prstGeom>
          <a:noFill/>
          <a:ln/>
        </p:spPr>
        <p:txBody>
          <a:bodyPr wrap="square" lIns="0" tIns="0" rIns="0" bIns="0"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2</a:t>
            </a:r>
            <a:endParaRPr lang="en-US" sz="1050" dirty="0"/>
          </a:p>
        </p:txBody>
      </p:sp>
      <p:sp>
        <p:nvSpPr>
          <p:cNvPr id="14" name="Text 11"/>
          <p:cNvSpPr/>
          <p:nvPr/>
        </p:nvSpPr>
        <p:spPr>
          <a:xfrm>
            <a:off x="3590392" y="211226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Frontend · Next.js</a:t>
            </a:r>
            <a:endParaRPr lang="en-US" sz="1350" dirty="0"/>
          </a:p>
        </p:txBody>
      </p:sp>
      <p:sp>
        <p:nvSpPr>
          <p:cNvPr id="15" name="Text 12"/>
          <p:cNvSpPr/>
          <p:nvPr/>
        </p:nvSpPr>
        <p:spPr>
          <a:xfrm>
            <a:off x="3590392" y="249631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Chat, dashboard &amp; workflow visualization</a:t>
            </a:r>
            <a:endParaRPr lang="en-US" sz="950" dirty="0"/>
          </a:p>
        </p:txBody>
      </p:sp>
      <p:sp>
        <p:nvSpPr>
          <p:cNvPr id="16" name="Shape 13"/>
          <p:cNvSpPr/>
          <p:nvPr/>
        </p:nvSpPr>
        <p:spPr>
          <a:xfrm>
            <a:off x="5967832" y="2322576"/>
            <a:ext cx="256032" cy="0"/>
          </a:xfrm>
          <a:prstGeom prst="line">
            <a:avLst/>
          </a:prstGeom>
          <a:noFill/>
          <a:ln w="19050">
            <a:solidFill>
              <a:srgbClr val="27272E"/>
            </a:solidFill>
            <a:prstDash val="solid"/>
            <a:tailEnd type="triangle"/>
          </a:ln>
        </p:spPr>
      </p:sp>
      <p:sp>
        <p:nvSpPr>
          <p:cNvPr id="17" name="Shape 14"/>
          <p:cNvSpPr/>
          <p:nvPr/>
        </p:nvSpPr>
        <p:spPr>
          <a:xfrm>
            <a:off x="6223864" y="178308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8" name="Shape 15"/>
          <p:cNvSpPr/>
          <p:nvPr/>
        </p:nvSpPr>
        <p:spPr>
          <a:xfrm>
            <a:off x="6223864" y="1783080"/>
            <a:ext cx="64008" cy="1078992"/>
          </a:xfrm>
          <a:prstGeom prst="roundRect">
            <a:avLst>
              <a:gd name="adj" fmla="val 42857"/>
            </a:avLst>
          </a:prstGeom>
          <a:solidFill>
            <a:srgbClr val="8B5CF6"/>
          </a:solidFill>
          <a:ln/>
        </p:spPr>
      </p:sp>
      <p:sp>
        <p:nvSpPr>
          <p:cNvPr id="19" name="Text 16"/>
          <p:cNvSpPr/>
          <p:nvPr/>
        </p:nvSpPr>
        <p:spPr>
          <a:xfrm>
            <a:off x="6388456" y="1874520"/>
            <a:ext cx="457200" cy="274320"/>
          </a:xfrm>
          <a:prstGeom prst="rect">
            <a:avLst/>
          </a:prstGeom>
          <a:noFill/>
          <a:ln/>
        </p:spPr>
        <p:txBody>
          <a:bodyPr wrap="square" lIns="0" tIns="0" rIns="0" bIns="0" rtlCol="0" anchor="ctr"/>
          <a:lstStyle/>
          <a:p>
            <a:pPr indent="0" marL="0">
              <a:buNone/>
            </a:pPr>
            <a:r>
              <a:rPr lang="en-US" sz="1050" b="1" dirty="0">
                <a:solidFill>
                  <a:srgbClr val="8B5CF6"/>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6388456" y="211226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API Gateway</a:t>
            </a:r>
            <a:endParaRPr lang="en-US" sz="1350" dirty="0"/>
          </a:p>
        </p:txBody>
      </p:sp>
      <p:sp>
        <p:nvSpPr>
          <p:cNvPr id="21" name="Text 18"/>
          <p:cNvSpPr/>
          <p:nvPr/>
        </p:nvSpPr>
        <p:spPr>
          <a:xfrm>
            <a:off x="6388456" y="249631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Auth (JWT/OAuth), rate limiting, routing</a:t>
            </a:r>
            <a:endParaRPr lang="en-US" sz="950" dirty="0"/>
          </a:p>
        </p:txBody>
      </p:sp>
      <p:sp>
        <p:nvSpPr>
          <p:cNvPr id="22" name="Shape 19"/>
          <p:cNvSpPr/>
          <p:nvPr/>
        </p:nvSpPr>
        <p:spPr>
          <a:xfrm>
            <a:off x="8765896" y="2322576"/>
            <a:ext cx="256032" cy="0"/>
          </a:xfrm>
          <a:prstGeom prst="line">
            <a:avLst/>
          </a:prstGeom>
          <a:noFill/>
          <a:ln w="19050">
            <a:solidFill>
              <a:srgbClr val="27272E"/>
            </a:solidFill>
            <a:prstDash val="solid"/>
            <a:tailEnd type="triangle"/>
          </a:ln>
        </p:spPr>
      </p:sp>
      <p:sp>
        <p:nvSpPr>
          <p:cNvPr id="23" name="Shape 20"/>
          <p:cNvSpPr/>
          <p:nvPr/>
        </p:nvSpPr>
        <p:spPr>
          <a:xfrm>
            <a:off x="9021928" y="178308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4" name="Shape 21"/>
          <p:cNvSpPr/>
          <p:nvPr/>
        </p:nvSpPr>
        <p:spPr>
          <a:xfrm>
            <a:off x="9021928" y="1783080"/>
            <a:ext cx="64008" cy="1078992"/>
          </a:xfrm>
          <a:prstGeom prst="roundRect">
            <a:avLst>
              <a:gd name="adj" fmla="val 42857"/>
            </a:avLst>
          </a:prstGeom>
          <a:solidFill>
            <a:srgbClr val="8B5CF6"/>
          </a:solidFill>
          <a:ln/>
        </p:spPr>
      </p:sp>
      <p:sp>
        <p:nvSpPr>
          <p:cNvPr id="25" name="Text 22"/>
          <p:cNvSpPr/>
          <p:nvPr/>
        </p:nvSpPr>
        <p:spPr>
          <a:xfrm>
            <a:off x="9186520" y="1874520"/>
            <a:ext cx="457200" cy="274320"/>
          </a:xfrm>
          <a:prstGeom prst="rect">
            <a:avLst/>
          </a:prstGeom>
          <a:noFill/>
          <a:ln/>
        </p:spPr>
        <p:txBody>
          <a:bodyPr wrap="square" lIns="0" tIns="0" rIns="0" bIns="0" rtlCol="0" anchor="ctr"/>
          <a:lstStyle/>
          <a:p>
            <a:pPr indent="0" marL="0">
              <a:buNone/>
            </a:pPr>
            <a:r>
              <a:rPr lang="en-US" sz="1050" b="1" dirty="0">
                <a:solidFill>
                  <a:srgbClr val="8B5CF6"/>
                </a:solidFill>
                <a:latin typeface="Calibri" pitchFamily="34" charset="0"/>
                <a:ea typeface="Calibri" pitchFamily="34" charset="-122"/>
                <a:cs typeface="Calibri" pitchFamily="34" charset="-120"/>
              </a:rPr>
              <a:t>4</a:t>
            </a:r>
            <a:endParaRPr lang="en-US" sz="1050" dirty="0"/>
          </a:p>
        </p:txBody>
      </p:sp>
      <p:sp>
        <p:nvSpPr>
          <p:cNvPr id="26" name="Text 23"/>
          <p:cNvSpPr/>
          <p:nvPr/>
        </p:nvSpPr>
        <p:spPr>
          <a:xfrm>
            <a:off x="9186520" y="211226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Request Router Agent</a:t>
            </a:r>
            <a:endParaRPr lang="en-US" sz="1350" dirty="0"/>
          </a:p>
        </p:txBody>
      </p:sp>
      <p:sp>
        <p:nvSpPr>
          <p:cNvPr id="27" name="Text 24"/>
          <p:cNvSpPr/>
          <p:nvPr/>
        </p:nvSpPr>
        <p:spPr>
          <a:xfrm>
            <a:off x="9186520" y="249631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Intent classification &amp; complexity analysis</a:t>
            </a:r>
            <a:endParaRPr lang="en-US" sz="950" dirty="0"/>
          </a:p>
        </p:txBody>
      </p:sp>
      <p:sp>
        <p:nvSpPr>
          <p:cNvPr id="28" name="Shape 25"/>
          <p:cNvSpPr/>
          <p:nvPr/>
        </p:nvSpPr>
        <p:spPr>
          <a:xfrm>
            <a:off x="627736" y="416052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9" name="Shape 26"/>
          <p:cNvSpPr/>
          <p:nvPr/>
        </p:nvSpPr>
        <p:spPr>
          <a:xfrm>
            <a:off x="627736" y="4160520"/>
            <a:ext cx="64008" cy="1078992"/>
          </a:xfrm>
          <a:prstGeom prst="roundRect">
            <a:avLst>
              <a:gd name="adj" fmla="val 42857"/>
            </a:avLst>
          </a:prstGeom>
          <a:solidFill>
            <a:srgbClr val="22D3EE"/>
          </a:solidFill>
          <a:ln/>
        </p:spPr>
      </p:sp>
      <p:sp>
        <p:nvSpPr>
          <p:cNvPr id="30" name="Text 27"/>
          <p:cNvSpPr/>
          <p:nvPr/>
        </p:nvSpPr>
        <p:spPr>
          <a:xfrm>
            <a:off x="792328" y="4251960"/>
            <a:ext cx="457200" cy="274320"/>
          </a:xfrm>
          <a:prstGeom prst="rect">
            <a:avLst/>
          </a:prstGeom>
          <a:noFill/>
          <a:ln/>
        </p:spPr>
        <p:txBody>
          <a:bodyPr wrap="square" lIns="0" tIns="0" rIns="0" bIns="0" rtlCol="0" anchor="ctr"/>
          <a:lstStyle/>
          <a:p>
            <a:pPr indent="0" marL="0">
              <a:buNone/>
            </a:pPr>
            <a:r>
              <a:rPr lang="en-US" sz="1050" b="1" dirty="0">
                <a:solidFill>
                  <a:srgbClr val="22D3EE"/>
                </a:solidFill>
                <a:latin typeface="Calibri" pitchFamily="34" charset="0"/>
                <a:ea typeface="Calibri" pitchFamily="34" charset="-122"/>
                <a:cs typeface="Calibri" pitchFamily="34" charset="-120"/>
              </a:rPr>
              <a:t>5</a:t>
            </a:r>
            <a:endParaRPr lang="en-US" sz="1050" dirty="0"/>
          </a:p>
        </p:txBody>
      </p:sp>
      <p:sp>
        <p:nvSpPr>
          <p:cNvPr id="31" name="Text 28"/>
          <p:cNvSpPr/>
          <p:nvPr/>
        </p:nvSpPr>
        <p:spPr>
          <a:xfrm>
            <a:off x="792328" y="448970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LangGraph Orchestration</a:t>
            </a:r>
            <a:endParaRPr lang="en-US" sz="1350" dirty="0"/>
          </a:p>
        </p:txBody>
      </p:sp>
      <p:sp>
        <p:nvSpPr>
          <p:cNvPr id="32" name="Text 29"/>
          <p:cNvSpPr/>
          <p:nvPr/>
        </p:nvSpPr>
        <p:spPr>
          <a:xfrm>
            <a:off x="792328" y="487375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Dynamic DAG of specialized agents</a:t>
            </a:r>
            <a:endParaRPr lang="en-US" sz="950" dirty="0"/>
          </a:p>
        </p:txBody>
      </p:sp>
      <p:sp>
        <p:nvSpPr>
          <p:cNvPr id="33" name="Shape 30"/>
          <p:cNvSpPr/>
          <p:nvPr/>
        </p:nvSpPr>
        <p:spPr>
          <a:xfrm>
            <a:off x="3169768" y="4700016"/>
            <a:ext cx="256032" cy="0"/>
          </a:xfrm>
          <a:prstGeom prst="line">
            <a:avLst/>
          </a:prstGeom>
          <a:noFill/>
          <a:ln w="19050">
            <a:solidFill>
              <a:srgbClr val="27272E"/>
            </a:solidFill>
            <a:prstDash val="solid"/>
            <a:tailEnd type="triangle"/>
          </a:ln>
        </p:spPr>
      </p:sp>
      <p:sp>
        <p:nvSpPr>
          <p:cNvPr id="34" name="Shape 31"/>
          <p:cNvSpPr/>
          <p:nvPr/>
        </p:nvSpPr>
        <p:spPr>
          <a:xfrm>
            <a:off x="3425800" y="416052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5" name="Shape 32"/>
          <p:cNvSpPr/>
          <p:nvPr/>
        </p:nvSpPr>
        <p:spPr>
          <a:xfrm>
            <a:off x="3425800" y="4160520"/>
            <a:ext cx="64008" cy="1078992"/>
          </a:xfrm>
          <a:prstGeom prst="roundRect">
            <a:avLst>
              <a:gd name="adj" fmla="val 42857"/>
            </a:avLst>
          </a:prstGeom>
          <a:solidFill>
            <a:srgbClr val="22D3EE"/>
          </a:solidFill>
          <a:ln/>
        </p:spPr>
      </p:sp>
      <p:sp>
        <p:nvSpPr>
          <p:cNvPr id="36" name="Text 33"/>
          <p:cNvSpPr/>
          <p:nvPr/>
        </p:nvSpPr>
        <p:spPr>
          <a:xfrm>
            <a:off x="3590392" y="4251960"/>
            <a:ext cx="457200" cy="274320"/>
          </a:xfrm>
          <a:prstGeom prst="rect">
            <a:avLst/>
          </a:prstGeom>
          <a:noFill/>
          <a:ln/>
        </p:spPr>
        <p:txBody>
          <a:bodyPr wrap="square" lIns="0" tIns="0" rIns="0" bIns="0" rtlCol="0" anchor="ctr"/>
          <a:lstStyle/>
          <a:p>
            <a:pPr indent="0" marL="0">
              <a:buNone/>
            </a:pPr>
            <a:r>
              <a:rPr lang="en-US" sz="1050" b="1" dirty="0">
                <a:solidFill>
                  <a:srgbClr val="22D3EE"/>
                </a:solidFill>
                <a:latin typeface="Calibri" pitchFamily="34" charset="0"/>
                <a:ea typeface="Calibri" pitchFamily="34" charset="-122"/>
                <a:cs typeface="Calibri" pitchFamily="34" charset="-120"/>
              </a:rPr>
              <a:t>6</a:t>
            </a:r>
            <a:endParaRPr lang="en-US" sz="1050" dirty="0"/>
          </a:p>
        </p:txBody>
      </p:sp>
      <p:sp>
        <p:nvSpPr>
          <p:cNvPr id="37" name="Text 34"/>
          <p:cNvSpPr/>
          <p:nvPr/>
        </p:nvSpPr>
        <p:spPr>
          <a:xfrm>
            <a:off x="3590392" y="448970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Multi-Agent Engine</a:t>
            </a:r>
            <a:endParaRPr lang="en-US" sz="1350" dirty="0"/>
          </a:p>
        </p:txBody>
      </p:sp>
      <p:sp>
        <p:nvSpPr>
          <p:cNvPr id="38" name="Text 35"/>
          <p:cNvSpPr/>
          <p:nvPr/>
        </p:nvSpPr>
        <p:spPr>
          <a:xfrm>
            <a:off x="3590392" y="487375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Retrieval · Analysis · Debate · Hypothesis · Writer · Validator</a:t>
            </a:r>
            <a:endParaRPr lang="en-US" sz="950" dirty="0"/>
          </a:p>
        </p:txBody>
      </p:sp>
      <p:sp>
        <p:nvSpPr>
          <p:cNvPr id="39" name="Shape 36"/>
          <p:cNvSpPr/>
          <p:nvPr/>
        </p:nvSpPr>
        <p:spPr>
          <a:xfrm>
            <a:off x="5967832" y="4700016"/>
            <a:ext cx="256032" cy="0"/>
          </a:xfrm>
          <a:prstGeom prst="line">
            <a:avLst/>
          </a:prstGeom>
          <a:noFill/>
          <a:ln w="19050">
            <a:solidFill>
              <a:srgbClr val="27272E"/>
            </a:solidFill>
            <a:prstDash val="solid"/>
            <a:tailEnd type="triangle"/>
          </a:ln>
        </p:spPr>
      </p:sp>
      <p:sp>
        <p:nvSpPr>
          <p:cNvPr id="40" name="Shape 37"/>
          <p:cNvSpPr/>
          <p:nvPr/>
        </p:nvSpPr>
        <p:spPr>
          <a:xfrm>
            <a:off x="6223864" y="416052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1" name="Shape 38"/>
          <p:cNvSpPr/>
          <p:nvPr/>
        </p:nvSpPr>
        <p:spPr>
          <a:xfrm>
            <a:off x="6223864" y="4160520"/>
            <a:ext cx="64008" cy="1078992"/>
          </a:xfrm>
          <a:prstGeom prst="roundRect">
            <a:avLst>
              <a:gd name="adj" fmla="val 42857"/>
            </a:avLst>
          </a:prstGeom>
          <a:solidFill>
            <a:srgbClr val="34D399"/>
          </a:solidFill>
          <a:ln/>
        </p:spPr>
      </p:sp>
      <p:sp>
        <p:nvSpPr>
          <p:cNvPr id="42" name="Text 39"/>
          <p:cNvSpPr/>
          <p:nvPr/>
        </p:nvSpPr>
        <p:spPr>
          <a:xfrm>
            <a:off x="6388456" y="4251960"/>
            <a:ext cx="45720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7</a:t>
            </a:r>
            <a:endParaRPr lang="en-US" sz="1050" dirty="0"/>
          </a:p>
        </p:txBody>
      </p:sp>
      <p:sp>
        <p:nvSpPr>
          <p:cNvPr id="43" name="Text 40"/>
          <p:cNvSpPr/>
          <p:nvPr/>
        </p:nvSpPr>
        <p:spPr>
          <a:xfrm>
            <a:off x="6388456" y="448970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Knowledge Sources</a:t>
            </a:r>
            <a:endParaRPr lang="en-US" sz="1350" dirty="0"/>
          </a:p>
        </p:txBody>
      </p:sp>
      <p:sp>
        <p:nvSpPr>
          <p:cNvPr id="44" name="Text 41"/>
          <p:cNvSpPr/>
          <p:nvPr/>
        </p:nvSpPr>
        <p:spPr>
          <a:xfrm>
            <a:off x="6388456" y="487375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PostgreSQL · Qdrant · Neo4j · 5 academic APIs</a:t>
            </a:r>
            <a:endParaRPr lang="en-US" sz="950" dirty="0"/>
          </a:p>
        </p:txBody>
      </p:sp>
      <p:sp>
        <p:nvSpPr>
          <p:cNvPr id="45" name="Shape 42"/>
          <p:cNvSpPr/>
          <p:nvPr/>
        </p:nvSpPr>
        <p:spPr>
          <a:xfrm>
            <a:off x="8765896" y="4700016"/>
            <a:ext cx="256032" cy="0"/>
          </a:xfrm>
          <a:prstGeom prst="line">
            <a:avLst/>
          </a:prstGeom>
          <a:noFill/>
          <a:ln w="19050">
            <a:solidFill>
              <a:srgbClr val="27272E"/>
            </a:solidFill>
            <a:prstDash val="solid"/>
            <a:tailEnd type="triangle"/>
          </a:ln>
        </p:spPr>
      </p:sp>
      <p:sp>
        <p:nvSpPr>
          <p:cNvPr id="46" name="Shape 43"/>
          <p:cNvSpPr/>
          <p:nvPr/>
        </p:nvSpPr>
        <p:spPr>
          <a:xfrm>
            <a:off x="9021928" y="4160520"/>
            <a:ext cx="2542032" cy="1078992"/>
          </a:xfrm>
          <a:prstGeom prst="roundRect">
            <a:avLst>
              <a:gd name="adj" fmla="val 10169"/>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7" name="Shape 44"/>
          <p:cNvSpPr/>
          <p:nvPr/>
        </p:nvSpPr>
        <p:spPr>
          <a:xfrm>
            <a:off x="9021928" y="4160520"/>
            <a:ext cx="64008" cy="1078992"/>
          </a:xfrm>
          <a:prstGeom prst="roundRect">
            <a:avLst>
              <a:gd name="adj" fmla="val 42857"/>
            </a:avLst>
          </a:prstGeom>
          <a:solidFill>
            <a:srgbClr val="34D399"/>
          </a:solidFill>
          <a:ln/>
        </p:spPr>
      </p:sp>
      <p:sp>
        <p:nvSpPr>
          <p:cNvPr id="48" name="Text 45"/>
          <p:cNvSpPr/>
          <p:nvPr/>
        </p:nvSpPr>
        <p:spPr>
          <a:xfrm>
            <a:off x="9186520" y="4251960"/>
            <a:ext cx="45720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8</a:t>
            </a:r>
            <a:endParaRPr lang="en-US" sz="1050" dirty="0"/>
          </a:p>
        </p:txBody>
      </p:sp>
      <p:sp>
        <p:nvSpPr>
          <p:cNvPr id="49" name="Text 46"/>
          <p:cNvSpPr/>
          <p:nvPr/>
        </p:nvSpPr>
        <p:spPr>
          <a:xfrm>
            <a:off x="9186520" y="4489704"/>
            <a:ext cx="2221992" cy="402336"/>
          </a:xfrm>
          <a:prstGeom prst="rect">
            <a:avLst/>
          </a:prstGeom>
          <a:noFill/>
          <a:ln/>
        </p:spPr>
        <p:txBody>
          <a:bodyPr wrap="square" lIns="0" tIns="0" rIns="0" bIns="0" rtlCol="0" anchor="ctr"/>
          <a:lstStyle/>
          <a:p>
            <a:pPr indent="0" marL="0">
              <a:lnSpc>
                <a:spcPts val="1500"/>
              </a:lnSpc>
              <a:buNone/>
            </a:pPr>
            <a:r>
              <a:rPr lang="en-US" sz="1350" b="1" dirty="0">
                <a:solidFill>
                  <a:srgbClr val="F5F5F7"/>
                </a:solidFill>
                <a:latin typeface="Calibri" pitchFamily="34" charset="0"/>
                <a:ea typeface="Calibri" pitchFamily="34" charset="-122"/>
                <a:cs typeface="Calibri" pitchFamily="34" charset="-120"/>
              </a:rPr>
              <a:t>Verified Response</a:t>
            </a:r>
            <a:endParaRPr lang="en-US" sz="1350" dirty="0"/>
          </a:p>
        </p:txBody>
      </p:sp>
      <p:sp>
        <p:nvSpPr>
          <p:cNvPr id="50" name="Text 47"/>
          <p:cNvSpPr/>
          <p:nvPr/>
        </p:nvSpPr>
        <p:spPr>
          <a:xfrm>
            <a:off x="9186520" y="4873752"/>
            <a:ext cx="2221992" cy="329184"/>
          </a:xfrm>
          <a:prstGeom prst="rect">
            <a:avLst/>
          </a:prstGeom>
          <a:noFill/>
          <a:ln/>
        </p:spPr>
        <p:txBody>
          <a:bodyPr wrap="square" lIns="0" tIns="0" rIns="0" bIns="0" rtlCol="0" anchor="ctr"/>
          <a:lstStyle/>
          <a:p>
            <a:pPr indent="0" marL="0">
              <a:lnSpc>
                <a:spcPts val="1100"/>
              </a:lnSpc>
              <a:buNone/>
            </a:pPr>
            <a:r>
              <a:rPr lang="en-US" sz="950" dirty="0">
                <a:solidFill>
                  <a:srgbClr val="9CA3AF"/>
                </a:solidFill>
                <a:latin typeface="Calibri" pitchFamily="34" charset="0"/>
                <a:ea typeface="Calibri" pitchFamily="34" charset="-122"/>
                <a:cs typeface="Calibri" pitchFamily="34" charset="-120"/>
              </a:rPr>
              <a:t>Evidence-backed report with citations &amp; exports</a:t>
            </a:r>
            <a:endParaRPr lang="en-US" sz="950" dirty="0"/>
          </a:p>
        </p:txBody>
      </p:sp>
      <p:sp>
        <p:nvSpPr>
          <p:cNvPr id="51" name="Shape 48"/>
          <p:cNvSpPr/>
          <p:nvPr/>
        </p:nvSpPr>
        <p:spPr>
          <a:xfrm>
            <a:off x="10292944" y="2862072"/>
            <a:ext cx="0" cy="1280160"/>
          </a:xfrm>
          <a:prstGeom prst="line">
            <a:avLst/>
          </a:prstGeom>
          <a:noFill/>
          <a:ln w="19050">
            <a:solidFill>
              <a:srgbClr val="27272E"/>
            </a:solidFill>
            <a:prstDash val="solid"/>
            <a:tailEnd type="triangle"/>
          </a:ln>
        </p:spPr>
      </p:sp>
      <p:sp>
        <p:nvSpPr>
          <p:cNvPr id="52" name="Text 49"/>
          <p:cNvSpPr/>
          <p:nvPr/>
        </p:nvSpPr>
        <p:spPr>
          <a:xfrm>
            <a:off x="8747608" y="2889504"/>
            <a:ext cx="1828800" cy="21945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workflow continues ↓</a:t>
            </a:r>
            <a:endParaRPr lang="en-US" sz="850" dirty="0"/>
          </a:p>
        </p:txBody>
      </p:sp>
      <p:sp>
        <p:nvSpPr>
          <p:cNvPr id="53" name="Text 50"/>
          <p:cNvSpPr/>
          <p:nvPr/>
        </p:nvSpPr>
        <p:spPr>
          <a:xfrm>
            <a:off x="627736" y="5623560"/>
            <a:ext cx="10936224" cy="365760"/>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Full detail of the multi-agent engine and retrieval pipeline follows on the next two slides.</a:t>
            </a:r>
            <a:endParaRPr lang="en-US" sz="1150" dirty="0"/>
          </a:p>
        </p:txBody>
      </p:sp>
      <p:sp>
        <p:nvSpPr>
          <p:cNvPr id="54" name="Text 51"/>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 / 10</a:t>
            </a:r>
            <a:endParaRPr lang="en-US" sz="1000" dirty="0"/>
          </a:p>
        </p:txBody>
      </p:sp>
      <p:sp>
        <p:nvSpPr>
          <p:cNvPr id="55" name="Text 52"/>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INSIDE THE ENGINE</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20 specialized agents across 6 coordinated categories</a:t>
            </a:r>
            <a:endParaRPr lang="en-US" sz="3400" dirty="0"/>
          </a:p>
        </p:txBody>
      </p:sp>
      <p:sp>
        <p:nvSpPr>
          <p:cNvPr id="5" name="Shape 2"/>
          <p:cNvSpPr/>
          <p:nvPr/>
        </p:nvSpPr>
        <p:spPr>
          <a:xfrm>
            <a:off x="458572" y="1783080"/>
            <a:ext cx="3611880" cy="1965960"/>
          </a:xfrm>
          <a:prstGeom prst="roundRect">
            <a:avLst>
              <a:gd name="adj" fmla="val 5581"/>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 name="Shape 3"/>
          <p:cNvSpPr/>
          <p:nvPr/>
        </p:nvSpPr>
        <p:spPr>
          <a:xfrm>
            <a:off x="664312" y="1988820"/>
            <a:ext cx="502920" cy="502920"/>
          </a:xfrm>
          <a:prstGeom prst="ellipse">
            <a:avLst/>
          </a:prstGeom>
          <a:solidFill>
            <a:srgbClr val="3B82F6">
              <a:alpha val="28000"/>
            </a:srgbClr>
          </a:solidFill>
          <a:ln w="15875">
            <a:solidFill>
              <a:srgbClr val="3B82F6"/>
            </a:solidFill>
            <a:prstDash val="solid"/>
          </a:ln>
        </p:spPr>
      </p:sp>
      <p:sp>
        <p:nvSpPr>
          <p:cNvPr id="7" name="Text 4"/>
          <p:cNvSpPr/>
          <p:nvPr/>
        </p:nvSpPr>
        <p:spPr>
          <a:xfrm>
            <a:off x="664312" y="1988820"/>
            <a:ext cx="502920" cy="502920"/>
          </a:xfrm>
          <a:prstGeom prst="rect">
            <a:avLst/>
          </a:prstGeom>
          <a:noFill/>
          <a:ln/>
        </p:spPr>
        <p:txBody>
          <a:bodyPr wrap="square" lIns="0" tIns="0" rIns="0" bIns="0" rtlCol="0" anchor="ctr"/>
          <a:lstStyle/>
          <a:p>
            <a:pPr algn="ctr" indent="0" marL="0">
              <a:buNone/>
            </a:pPr>
            <a:r>
              <a:rPr lang="en-US" sz="1800" b="1" dirty="0">
                <a:solidFill>
                  <a:srgbClr val="3B82F6"/>
                </a:solidFill>
                <a:latin typeface="Arial" pitchFamily="34" charset="0"/>
                <a:ea typeface="Arial" pitchFamily="34" charset="-122"/>
                <a:cs typeface="Arial" pitchFamily="34" charset="-120"/>
              </a:rPr>
              <a:t>1</a:t>
            </a:r>
            <a:endParaRPr lang="en-US" sz="1800" dirty="0"/>
          </a:p>
        </p:txBody>
      </p:sp>
      <p:sp>
        <p:nvSpPr>
          <p:cNvPr id="8" name="Text 5"/>
          <p:cNvSpPr/>
          <p:nvPr/>
        </p:nvSpPr>
        <p:spPr>
          <a:xfrm>
            <a:off x="1327252" y="1984248"/>
            <a:ext cx="260604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Planning</a:t>
            </a:r>
            <a:endParaRPr lang="en-US" sz="1700" dirty="0"/>
          </a:p>
        </p:txBody>
      </p:sp>
      <p:sp>
        <p:nvSpPr>
          <p:cNvPr id="9" name="Shape 6"/>
          <p:cNvSpPr/>
          <p:nvPr/>
        </p:nvSpPr>
        <p:spPr>
          <a:xfrm>
            <a:off x="714604" y="2624328"/>
            <a:ext cx="3099816" cy="0"/>
          </a:xfrm>
          <a:prstGeom prst="line">
            <a:avLst/>
          </a:prstGeom>
          <a:noFill/>
          <a:ln w="12700">
            <a:solidFill>
              <a:srgbClr val="27272E"/>
            </a:solidFill>
            <a:prstDash val="solid"/>
          </a:ln>
        </p:spPr>
      </p:sp>
      <p:sp>
        <p:nvSpPr>
          <p:cNvPr id="10" name="Text 7"/>
          <p:cNvSpPr/>
          <p:nvPr/>
        </p:nvSpPr>
        <p:spPr>
          <a:xfrm>
            <a:off x="714604" y="2743200"/>
            <a:ext cx="3099816" cy="566928"/>
          </a:xfrm>
          <a:prstGeom prst="rect">
            <a:avLst/>
          </a:prstGeom>
          <a:noFill/>
          <a:ln/>
        </p:spPr>
        <p:txBody>
          <a:bodyPr wrap="square" lIns="0" tIns="0" rIns="0" bIns="0" rtlCol="0" anchor="ctr"/>
          <a:lstStyle/>
          <a:p>
            <a:pPr indent="0" marL="0">
              <a:lnSpc>
                <a:spcPts val="1600"/>
              </a:lnSpc>
              <a:buNone/>
            </a:pPr>
            <a:r>
              <a:rPr lang="en-US" sz="1200" b="1" dirty="0">
                <a:solidFill>
                  <a:srgbClr val="3B82F6"/>
                </a:solidFill>
                <a:latin typeface="Calibri" pitchFamily="34" charset="0"/>
                <a:ea typeface="Calibri" pitchFamily="34" charset="-122"/>
                <a:cs typeface="Calibri" pitchFamily="34" charset="-120"/>
              </a:rPr>
              <a:t>Director · Intent · Resource · Scheduler</a:t>
            </a:r>
            <a:endParaRPr lang="en-US" sz="1200" dirty="0"/>
          </a:p>
        </p:txBody>
      </p:sp>
      <p:sp>
        <p:nvSpPr>
          <p:cNvPr id="11" name="Text 8"/>
          <p:cNvSpPr/>
          <p:nvPr/>
        </p:nvSpPr>
        <p:spPr>
          <a:xfrm>
            <a:off x="714604" y="3264408"/>
            <a:ext cx="3099816" cy="438912"/>
          </a:xfrm>
          <a:prstGeom prst="rect">
            <a:avLst/>
          </a:prstGeom>
          <a:noFill/>
          <a:ln/>
        </p:spPr>
        <p:txBody>
          <a:bodyPr wrap="square" lIns="0" tIns="0" rIns="0" bIns="0" rtlCol="0" anchor="ctr"/>
          <a:lstStyle/>
          <a:p>
            <a:pPr indent="0" marL="0">
              <a:lnSpc>
                <a:spcPts val="1300"/>
              </a:lnSpc>
              <a:buNone/>
            </a:pPr>
            <a:r>
              <a:rPr lang="en-US" sz="1050" dirty="0">
                <a:solidFill>
                  <a:srgbClr val="9CA3AF"/>
                </a:solidFill>
                <a:latin typeface="Calibri" pitchFamily="34" charset="0"/>
                <a:ea typeface="Calibri" pitchFamily="34" charset="-122"/>
                <a:cs typeface="Calibri" pitchFamily="34" charset="-120"/>
              </a:rPr>
              <a:t>Interpret goals, build the workflow DAG, allocate resources</a:t>
            </a:r>
            <a:endParaRPr lang="en-US" sz="1050" dirty="0"/>
          </a:p>
        </p:txBody>
      </p:sp>
      <p:sp>
        <p:nvSpPr>
          <p:cNvPr id="12" name="Shape 9"/>
          <p:cNvSpPr/>
          <p:nvPr/>
        </p:nvSpPr>
        <p:spPr>
          <a:xfrm>
            <a:off x="4289908" y="1783080"/>
            <a:ext cx="3611880" cy="1965960"/>
          </a:xfrm>
          <a:prstGeom prst="roundRect">
            <a:avLst>
              <a:gd name="adj" fmla="val 5581"/>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3" name="Shape 10"/>
          <p:cNvSpPr/>
          <p:nvPr/>
        </p:nvSpPr>
        <p:spPr>
          <a:xfrm>
            <a:off x="4495648" y="1988820"/>
            <a:ext cx="502920" cy="502920"/>
          </a:xfrm>
          <a:prstGeom prst="ellipse">
            <a:avLst/>
          </a:prstGeom>
          <a:solidFill>
            <a:srgbClr val="22D3EE">
              <a:alpha val="28000"/>
            </a:srgbClr>
          </a:solidFill>
          <a:ln w="15875">
            <a:solidFill>
              <a:srgbClr val="22D3EE"/>
            </a:solidFill>
            <a:prstDash val="solid"/>
          </a:ln>
        </p:spPr>
      </p:sp>
      <p:sp>
        <p:nvSpPr>
          <p:cNvPr id="14" name="Text 11"/>
          <p:cNvSpPr/>
          <p:nvPr/>
        </p:nvSpPr>
        <p:spPr>
          <a:xfrm>
            <a:off x="4495648" y="1988820"/>
            <a:ext cx="502920" cy="502920"/>
          </a:xfrm>
          <a:prstGeom prst="rect">
            <a:avLst/>
          </a:prstGeom>
          <a:noFill/>
          <a:ln/>
        </p:spPr>
        <p:txBody>
          <a:bodyPr wrap="square" lIns="0" tIns="0" rIns="0" bIns="0" rtlCol="0" anchor="ctr"/>
          <a:lstStyle/>
          <a:p>
            <a:pPr algn="ctr" indent="0" marL="0">
              <a:buNone/>
            </a:pPr>
            <a:r>
              <a:rPr lang="en-US" sz="1800" b="1" dirty="0">
                <a:solidFill>
                  <a:srgbClr val="22D3EE"/>
                </a:solidFill>
                <a:latin typeface="Arial" pitchFamily="34" charset="0"/>
                <a:ea typeface="Arial" pitchFamily="34" charset="-122"/>
                <a:cs typeface="Arial" pitchFamily="34" charset="-120"/>
              </a:rPr>
              <a:t>2</a:t>
            </a:r>
            <a:endParaRPr lang="en-US" sz="1800" dirty="0"/>
          </a:p>
        </p:txBody>
      </p:sp>
      <p:sp>
        <p:nvSpPr>
          <p:cNvPr id="15" name="Text 12"/>
          <p:cNvSpPr/>
          <p:nvPr/>
        </p:nvSpPr>
        <p:spPr>
          <a:xfrm>
            <a:off x="5158588" y="1984248"/>
            <a:ext cx="260604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Retrieval</a:t>
            </a:r>
            <a:endParaRPr lang="en-US" sz="1700" dirty="0"/>
          </a:p>
        </p:txBody>
      </p:sp>
      <p:sp>
        <p:nvSpPr>
          <p:cNvPr id="16" name="Shape 13"/>
          <p:cNvSpPr/>
          <p:nvPr/>
        </p:nvSpPr>
        <p:spPr>
          <a:xfrm>
            <a:off x="4545940" y="2624328"/>
            <a:ext cx="3099816" cy="0"/>
          </a:xfrm>
          <a:prstGeom prst="line">
            <a:avLst/>
          </a:prstGeom>
          <a:noFill/>
          <a:ln w="12700">
            <a:solidFill>
              <a:srgbClr val="27272E"/>
            </a:solidFill>
            <a:prstDash val="solid"/>
          </a:ln>
        </p:spPr>
      </p:sp>
      <p:sp>
        <p:nvSpPr>
          <p:cNvPr id="17" name="Text 14"/>
          <p:cNvSpPr/>
          <p:nvPr/>
        </p:nvSpPr>
        <p:spPr>
          <a:xfrm>
            <a:off x="4545940" y="2743200"/>
            <a:ext cx="3099816" cy="566928"/>
          </a:xfrm>
          <a:prstGeom prst="rect">
            <a:avLst/>
          </a:prstGeom>
          <a:noFill/>
          <a:ln/>
        </p:spPr>
        <p:txBody>
          <a:bodyPr wrap="square" lIns="0" tIns="0" rIns="0" bIns="0" rtlCol="0" anchor="ctr"/>
          <a:lstStyle/>
          <a:p>
            <a:pPr indent="0" marL="0">
              <a:lnSpc>
                <a:spcPts val="1600"/>
              </a:lnSpc>
              <a:buNone/>
            </a:pPr>
            <a:r>
              <a:rPr lang="en-US" sz="1200" b="1" dirty="0">
                <a:solidFill>
                  <a:srgbClr val="22D3EE"/>
                </a:solidFill>
                <a:latin typeface="Calibri" pitchFamily="34" charset="0"/>
                <a:ea typeface="Calibri" pitchFamily="34" charset="-122"/>
                <a:cs typeface="Calibri" pitchFamily="34" charset="-120"/>
              </a:rPr>
              <a:t>Search · PDF · Metadata · Citation</a:t>
            </a:r>
            <a:endParaRPr lang="en-US" sz="1200" dirty="0"/>
          </a:p>
        </p:txBody>
      </p:sp>
      <p:sp>
        <p:nvSpPr>
          <p:cNvPr id="18" name="Text 15"/>
          <p:cNvSpPr/>
          <p:nvPr/>
        </p:nvSpPr>
        <p:spPr>
          <a:xfrm>
            <a:off x="4545940" y="3264408"/>
            <a:ext cx="3099816" cy="438912"/>
          </a:xfrm>
          <a:prstGeom prst="rect">
            <a:avLst/>
          </a:prstGeom>
          <a:noFill/>
          <a:ln/>
        </p:spPr>
        <p:txBody>
          <a:bodyPr wrap="square" lIns="0" tIns="0" rIns="0" bIns="0" rtlCol="0" anchor="ctr"/>
          <a:lstStyle/>
          <a:p>
            <a:pPr indent="0" marL="0">
              <a:lnSpc>
                <a:spcPts val="1300"/>
              </a:lnSpc>
              <a:buNone/>
            </a:pPr>
            <a:r>
              <a:rPr lang="en-US" sz="1050" dirty="0">
                <a:solidFill>
                  <a:srgbClr val="9CA3AF"/>
                </a:solidFill>
                <a:latin typeface="Calibri" pitchFamily="34" charset="0"/>
                <a:ea typeface="Calibri" pitchFamily="34" charset="-122"/>
                <a:cs typeface="Calibri" pitchFamily="34" charset="-120"/>
              </a:rPr>
              <a:t>Collect papers and structured bibliographic data</a:t>
            </a:r>
            <a:endParaRPr lang="en-US" sz="1050" dirty="0"/>
          </a:p>
        </p:txBody>
      </p:sp>
      <p:sp>
        <p:nvSpPr>
          <p:cNvPr id="19" name="Shape 16"/>
          <p:cNvSpPr/>
          <p:nvPr/>
        </p:nvSpPr>
        <p:spPr>
          <a:xfrm>
            <a:off x="8121244" y="1783080"/>
            <a:ext cx="3611880" cy="1965960"/>
          </a:xfrm>
          <a:prstGeom prst="roundRect">
            <a:avLst>
              <a:gd name="adj" fmla="val 5581"/>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0" name="Shape 17"/>
          <p:cNvSpPr/>
          <p:nvPr/>
        </p:nvSpPr>
        <p:spPr>
          <a:xfrm>
            <a:off x="8326984" y="1988820"/>
            <a:ext cx="502920" cy="502920"/>
          </a:xfrm>
          <a:prstGeom prst="ellipse">
            <a:avLst/>
          </a:prstGeom>
          <a:solidFill>
            <a:srgbClr val="8B5CF6">
              <a:alpha val="28000"/>
            </a:srgbClr>
          </a:solidFill>
          <a:ln w="15875">
            <a:solidFill>
              <a:srgbClr val="8B5CF6"/>
            </a:solidFill>
            <a:prstDash val="solid"/>
          </a:ln>
        </p:spPr>
      </p:sp>
      <p:sp>
        <p:nvSpPr>
          <p:cNvPr id="21" name="Text 18"/>
          <p:cNvSpPr/>
          <p:nvPr/>
        </p:nvSpPr>
        <p:spPr>
          <a:xfrm>
            <a:off x="8326984" y="1988820"/>
            <a:ext cx="502920" cy="502920"/>
          </a:xfrm>
          <a:prstGeom prst="rect">
            <a:avLst/>
          </a:prstGeom>
          <a:noFill/>
          <a:ln/>
        </p:spPr>
        <p:txBody>
          <a:bodyPr wrap="square" lIns="0" tIns="0" rIns="0" bIns="0" rtlCol="0" anchor="ctr"/>
          <a:lstStyle/>
          <a:p>
            <a:pPr algn="ctr" indent="0" marL="0">
              <a:buNone/>
            </a:pPr>
            <a:r>
              <a:rPr lang="en-US" sz="1800" b="1" dirty="0">
                <a:solidFill>
                  <a:srgbClr val="8B5CF6"/>
                </a:solidFill>
                <a:latin typeface="Arial" pitchFamily="34" charset="0"/>
                <a:ea typeface="Arial" pitchFamily="34" charset="-122"/>
                <a:cs typeface="Arial" pitchFamily="34" charset="-120"/>
              </a:rPr>
              <a:t>3</a:t>
            </a:r>
            <a:endParaRPr lang="en-US" sz="1800" dirty="0"/>
          </a:p>
        </p:txBody>
      </p:sp>
      <p:sp>
        <p:nvSpPr>
          <p:cNvPr id="22" name="Text 19"/>
          <p:cNvSpPr/>
          <p:nvPr/>
        </p:nvSpPr>
        <p:spPr>
          <a:xfrm>
            <a:off x="8989924" y="1984248"/>
            <a:ext cx="260604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Knowledge</a:t>
            </a:r>
            <a:endParaRPr lang="en-US" sz="1700" dirty="0"/>
          </a:p>
        </p:txBody>
      </p:sp>
      <p:sp>
        <p:nvSpPr>
          <p:cNvPr id="23" name="Shape 20"/>
          <p:cNvSpPr/>
          <p:nvPr/>
        </p:nvSpPr>
        <p:spPr>
          <a:xfrm>
            <a:off x="8377276" y="2624328"/>
            <a:ext cx="3099816" cy="0"/>
          </a:xfrm>
          <a:prstGeom prst="line">
            <a:avLst/>
          </a:prstGeom>
          <a:noFill/>
          <a:ln w="12700">
            <a:solidFill>
              <a:srgbClr val="27272E"/>
            </a:solidFill>
            <a:prstDash val="solid"/>
          </a:ln>
        </p:spPr>
      </p:sp>
      <p:sp>
        <p:nvSpPr>
          <p:cNvPr id="24" name="Text 21"/>
          <p:cNvSpPr/>
          <p:nvPr/>
        </p:nvSpPr>
        <p:spPr>
          <a:xfrm>
            <a:off x="8377276" y="2743200"/>
            <a:ext cx="3099816" cy="566928"/>
          </a:xfrm>
          <a:prstGeom prst="rect">
            <a:avLst/>
          </a:prstGeom>
          <a:noFill/>
          <a:ln/>
        </p:spPr>
        <p:txBody>
          <a:bodyPr wrap="square" lIns="0" tIns="0" rIns="0" bIns="0" rtlCol="0" anchor="ctr"/>
          <a:lstStyle/>
          <a:p>
            <a:pPr indent="0" marL="0">
              <a:lnSpc>
                <a:spcPts val="1600"/>
              </a:lnSpc>
              <a:buNone/>
            </a:pPr>
            <a:r>
              <a:rPr lang="en-US" sz="1200" b="1" dirty="0">
                <a:solidFill>
                  <a:srgbClr val="8B5CF6"/>
                </a:solidFill>
                <a:latin typeface="Calibri" pitchFamily="34" charset="0"/>
                <a:ea typeface="Calibri" pitchFamily="34" charset="-122"/>
                <a:cs typeface="Calibri" pitchFamily="34" charset="-120"/>
              </a:rPr>
              <a:t>Extractor · Literature · Method · Dataset</a:t>
            </a:r>
            <a:endParaRPr lang="en-US" sz="1200" dirty="0"/>
          </a:p>
        </p:txBody>
      </p:sp>
      <p:sp>
        <p:nvSpPr>
          <p:cNvPr id="25" name="Text 22"/>
          <p:cNvSpPr/>
          <p:nvPr/>
        </p:nvSpPr>
        <p:spPr>
          <a:xfrm>
            <a:off x="8377276" y="3264408"/>
            <a:ext cx="3099816" cy="438912"/>
          </a:xfrm>
          <a:prstGeom prst="rect">
            <a:avLst/>
          </a:prstGeom>
          <a:noFill/>
          <a:ln/>
        </p:spPr>
        <p:txBody>
          <a:bodyPr wrap="square" lIns="0" tIns="0" rIns="0" bIns="0" rtlCol="0" anchor="ctr"/>
          <a:lstStyle/>
          <a:p>
            <a:pPr indent="0" marL="0">
              <a:lnSpc>
                <a:spcPts val="1300"/>
              </a:lnSpc>
              <a:buNone/>
            </a:pPr>
            <a:r>
              <a:rPr lang="en-US" sz="1050" dirty="0">
                <a:solidFill>
                  <a:srgbClr val="9CA3AF"/>
                </a:solidFill>
                <a:latin typeface="Calibri" pitchFamily="34" charset="0"/>
                <a:ea typeface="Calibri" pitchFamily="34" charset="-122"/>
                <a:cs typeface="Calibri" pitchFamily="34" charset="-120"/>
              </a:rPr>
              <a:t>Parse documents, build the structured knowledge base</a:t>
            </a:r>
            <a:endParaRPr lang="en-US" sz="1050" dirty="0"/>
          </a:p>
        </p:txBody>
      </p:sp>
      <p:sp>
        <p:nvSpPr>
          <p:cNvPr id="26" name="Shape 23"/>
          <p:cNvSpPr/>
          <p:nvPr/>
        </p:nvSpPr>
        <p:spPr>
          <a:xfrm>
            <a:off x="458572" y="3968496"/>
            <a:ext cx="3611880" cy="1965960"/>
          </a:xfrm>
          <a:prstGeom prst="roundRect">
            <a:avLst>
              <a:gd name="adj" fmla="val 5581"/>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7" name="Shape 24"/>
          <p:cNvSpPr/>
          <p:nvPr/>
        </p:nvSpPr>
        <p:spPr>
          <a:xfrm>
            <a:off x="664312" y="4174236"/>
            <a:ext cx="502920" cy="502920"/>
          </a:xfrm>
          <a:prstGeom prst="ellipse">
            <a:avLst/>
          </a:prstGeom>
          <a:solidFill>
            <a:srgbClr val="F59E0B">
              <a:alpha val="28000"/>
            </a:srgbClr>
          </a:solidFill>
          <a:ln w="15875">
            <a:solidFill>
              <a:srgbClr val="F59E0B"/>
            </a:solidFill>
            <a:prstDash val="solid"/>
          </a:ln>
        </p:spPr>
      </p:sp>
      <p:sp>
        <p:nvSpPr>
          <p:cNvPr id="28" name="Text 25"/>
          <p:cNvSpPr/>
          <p:nvPr/>
        </p:nvSpPr>
        <p:spPr>
          <a:xfrm>
            <a:off x="664312" y="4174236"/>
            <a:ext cx="502920" cy="502920"/>
          </a:xfrm>
          <a:prstGeom prst="rect">
            <a:avLst/>
          </a:prstGeom>
          <a:noFill/>
          <a:ln/>
        </p:spPr>
        <p:txBody>
          <a:bodyPr wrap="square" lIns="0" tIns="0" rIns="0" bIns="0"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4</a:t>
            </a:r>
            <a:endParaRPr lang="en-US" sz="1800" dirty="0"/>
          </a:p>
        </p:txBody>
      </p:sp>
      <p:sp>
        <p:nvSpPr>
          <p:cNvPr id="29" name="Text 26"/>
          <p:cNvSpPr/>
          <p:nvPr/>
        </p:nvSpPr>
        <p:spPr>
          <a:xfrm>
            <a:off x="1327252" y="4169664"/>
            <a:ext cx="260604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Analysis</a:t>
            </a:r>
            <a:endParaRPr lang="en-US" sz="1700" dirty="0"/>
          </a:p>
        </p:txBody>
      </p:sp>
      <p:sp>
        <p:nvSpPr>
          <p:cNvPr id="30" name="Shape 27"/>
          <p:cNvSpPr/>
          <p:nvPr/>
        </p:nvSpPr>
        <p:spPr>
          <a:xfrm>
            <a:off x="714604" y="4809744"/>
            <a:ext cx="3099816" cy="0"/>
          </a:xfrm>
          <a:prstGeom prst="line">
            <a:avLst/>
          </a:prstGeom>
          <a:noFill/>
          <a:ln w="12700">
            <a:solidFill>
              <a:srgbClr val="27272E"/>
            </a:solidFill>
            <a:prstDash val="solid"/>
          </a:ln>
        </p:spPr>
      </p:sp>
      <p:sp>
        <p:nvSpPr>
          <p:cNvPr id="31" name="Text 28"/>
          <p:cNvSpPr/>
          <p:nvPr/>
        </p:nvSpPr>
        <p:spPr>
          <a:xfrm>
            <a:off x="714604" y="4928616"/>
            <a:ext cx="3099816" cy="566928"/>
          </a:xfrm>
          <a:prstGeom prst="rect">
            <a:avLst/>
          </a:prstGeom>
          <a:noFill/>
          <a:ln/>
        </p:spPr>
        <p:txBody>
          <a:bodyPr wrap="square" lIns="0" tIns="0" rIns="0" bIns="0" rtlCol="0" anchor="ctr"/>
          <a:lstStyle/>
          <a:p>
            <a:pPr indent="0" marL="0">
              <a:lnSpc>
                <a:spcPts val="1600"/>
              </a:lnSpc>
              <a:buNone/>
            </a:pPr>
            <a:r>
              <a:rPr lang="en-US" sz="1200" b="1" dirty="0">
                <a:solidFill>
                  <a:srgbClr val="F59E0B"/>
                </a:solidFill>
                <a:latin typeface="Calibri" pitchFamily="34" charset="0"/>
                <a:ea typeface="Calibri" pitchFamily="34" charset="-122"/>
                <a:cs typeface="Calibri" pitchFamily="34" charset="-120"/>
              </a:rPr>
              <a:t>Evidence · Novelty · Contradiction · Debate</a:t>
            </a:r>
            <a:endParaRPr lang="en-US" sz="1200" dirty="0"/>
          </a:p>
        </p:txBody>
      </p:sp>
      <p:sp>
        <p:nvSpPr>
          <p:cNvPr id="32" name="Text 29"/>
          <p:cNvSpPr/>
          <p:nvPr/>
        </p:nvSpPr>
        <p:spPr>
          <a:xfrm>
            <a:off x="714604" y="5449824"/>
            <a:ext cx="3099816" cy="438912"/>
          </a:xfrm>
          <a:prstGeom prst="rect">
            <a:avLst/>
          </a:prstGeom>
          <a:noFill/>
          <a:ln/>
        </p:spPr>
        <p:txBody>
          <a:bodyPr wrap="square" lIns="0" tIns="0" rIns="0" bIns="0" rtlCol="0" anchor="ctr"/>
          <a:lstStyle/>
          <a:p>
            <a:pPr indent="0" marL="0">
              <a:lnSpc>
                <a:spcPts val="1300"/>
              </a:lnSpc>
              <a:buNone/>
            </a:pPr>
            <a:r>
              <a:rPr lang="en-US" sz="1050" dirty="0">
                <a:solidFill>
                  <a:srgbClr val="9CA3AF"/>
                </a:solidFill>
                <a:latin typeface="Calibri" pitchFamily="34" charset="0"/>
                <a:ea typeface="Calibri" pitchFamily="34" charset="-122"/>
                <a:cs typeface="Calibri" pitchFamily="34" charset="-120"/>
              </a:rPr>
              <a:t>Detect conflicts, score novelty, reach consensus</a:t>
            </a:r>
            <a:endParaRPr lang="en-US" sz="1050" dirty="0"/>
          </a:p>
        </p:txBody>
      </p:sp>
      <p:sp>
        <p:nvSpPr>
          <p:cNvPr id="33" name="Shape 30"/>
          <p:cNvSpPr/>
          <p:nvPr/>
        </p:nvSpPr>
        <p:spPr>
          <a:xfrm>
            <a:off x="4289908" y="3968496"/>
            <a:ext cx="3611880" cy="1965960"/>
          </a:xfrm>
          <a:prstGeom prst="roundRect">
            <a:avLst>
              <a:gd name="adj" fmla="val 5581"/>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4" name="Shape 31"/>
          <p:cNvSpPr/>
          <p:nvPr/>
        </p:nvSpPr>
        <p:spPr>
          <a:xfrm>
            <a:off x="4495648" y="4174236"/>
            <a:ext cx="502920" cy="502920"/>
          </a:xfrm>
          <a:prstGeom prst="ellipse">
            <a:avLst/>
          </a:prstGeom>
          <a:solidFill>
            <a:srgbClr val="34D399">
              <a:alpha val="28000"/>
            </a:srgbClr>
          </a:solidFill>
          <a:ln w="15875">
            <a:solidFill>
              <a:srgbClr val="34D399"/>
            </a:solidFill>
            <a:prstDash val="solid"/>
          </a:ln>
        </p:spPr>
      </p:sp>
      <p:sp>
        <p:nvSpPr>
          <p:cNvPr id="35" name="Text 32"/>
          <p:cNvSpPr/>
          <p:nvPr/>
        </p:nvSpPr>
        <p:spPr>
          <a:xfrm>
            <a:off x="4495648" y="4174236"/>
            <a:ext cx="502920" cy="502920"/>
          </a:xfrm>
          <a:prstGeom prst="rect">
            <a:avLst/>
          </a:prstGeom>
          <a:noFill/>
          <a:ln/>
        </p:spPr>
        <p:txBody>
          <a:bodyPr wrap="square" lIns="0" tIns="0" rIns="0" bIns="0" rtlCol="0" anchor="ctr"/>
          <a:lstStyle/>
          <a:p>
            <a:pPr algn="ctr" indent="0" marL="0">
              <a:buNone/>
            </a:pPr>
            <a:r>
              <a:rPr lang="en-US" sz="1800" b="1" dirty="0">
                <a:solidFill>
                  <a:srgbClr val="34D399"/>
                </a:solidFill>
                <a:latin typeface="Arial" pitchFamily="34" charset="0"/>
                <a:ea typeface="Arial" pitchFamily="34" charset="-122"/>
                <a:cs typeface="Arial" pitchFamily="34" charset="-120"/>
              </a:rPr>
              <a:t>5</a:t>
            </a:r>
            <a:endParaRPr lang="en-US" sz="1800" dirty="0"/>
          </a:p>
        </p:txBody>
      </p:sp>
      <p:sp>
        <p:nvSpPr>
          <p:cNvPr id="36" name="Text 33"/>
          <p:cNvSpPr/>
          <p:nvPr/>
        </p:nvSpPr>
        <p:spPr>
          <a:xfrm>
            <a:off x="5158588" y="4169664"/>
            <a:ext cx="260604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Generation</a:t>
            </a:r>
            <a:endParaRPr lang="en-US" sz="1700" dirty="0"/>
          </a:p>
        </p:txBody>
      </p:sp>
      <p:sp>
        <p:nvSpPr>
          <p:cNvPr id="37" name="Shape 34"/>
          <p:cNvSpPr/>
          <p:nvPr/>
        </p:nvSpPr>
        <p:spPr>
          <a:xfrm>
            <a:off x="4545940" y="4809744"/>
            <a:ext cx="3099816" cy="0"/>
          </a:xfrm>
          <a:prstGeom prst="line">
            <a:avLst/>
          </a:prstGeom>
          <a:noFill/>
          <a:ln w="12700">
            <a:solidFill>
              <a:srgbClr val="27272E"/>
            </a:solidFill>
            <a:prstDash val="solid"/>
          </a:ln>
        </p:spPr>
      </p:sp>
      <p:sp>
        <p:nvSpPr>
          <p:cNvPr id="38" name="Text 35"/>
          <p:cNvSpPr/>
          <p:nvPr/>
        </p:nvSpPr>
        <p:spPr>
          <a:xfrm>
            <a:off x="4545940" y="4928616"/>
            <a:ext cx="3099816" cy="566928"/>
          </a:xfrm>
          <a:prstGeom prst="rect">
            <a:avLst/>
          </a:prstGeom>
          <a:noFill/>
          <a:ln/>
        </p:spPr>
        <p:txBody>
          <a:bodyPr wrap="square" lIns="0" tIns="0" rIns="0" bIns="0" rtlCol="0" anchor="ctr"/>
          <a:lstStyle/>
          <a:p>
            <a:pPr indent="0" marL="0">
              <a:lnSpc>
                <a:spcPts val="1600"/>
              </a:lnSpc>
              <a:buNone/>
            </a:pPr>
            <a:r>
              <a:rPr lang="en-US" sz="1200" b="1" dirty="0">
                <a:solidFill>
                  <a:srgbClr val="34D399"/>
                </a:solidFill>
                <a:latin typeface="Calibri" pitchFamily="34" charset="0"/>
                <a:ea typeface="Calibri" pitchFamily="34" charset="-122"/>
                <a:cs typeface="Calibri" pitchFamily="34" charset="-120"/>
              </a:rPr>
              <a:t>Gap · Experiment · Hypothesis · Writer</a:t>
            </a:r>
            <a:endParaRPr lang="en-US" sz="1200" dirty="0"/>
          </a:p>
        </p:txBody>
      </p:sp>
      <p:sp>
        <p:nvSpPr>
          <p:cNvPr id="39" name="Text 36"/>
          <p:cNvSpPr/>
          <p:nvPr/>
        </p:nvSpPr>
        <p:spPr>
          <a:xfrm>
            <a:off x="4545940" y="5449824"/>
            <a:ext cx="3099816" cy="438912"/>
          </a:xfrm>
          <a:prstGeom prst="rect">
            <a:avLst/>
          </a:prstGeom>
          <a:noFill/>
          <a:ln/>
        </p:spPr>
        <p:txBody>
          <a:bodyPr wrap="square" lIns="0" tIns="0" rIns="0" bIns="0" rtlCol="0" anchor="ctr"/>
          <a:lstStyle/>
          <a:p>
            <a:pPr indent="0" marL="0">
              <a:lnSpc>
                <a:spcPts val="1300"/>
              </a:lnSpc>
              <a:buNone/>
            </a:pPr>
            <a:r>
              <a:rPr lang="en-US" sz="1050" dirty="0">
                <a:solidFill>
                  <a:srgbClr val="9CA3AF"/>
                </a:solidFill>
                <a:latin typeface="Calibri" pitchFamily="34" charset="0"/>
                <a:ea typeface="Calibri" pitchFamily="34" charset="-122"/>
                <a:cs typeface="Calibri" pitchFamily="34" charset="-120"/>
              </a:rPr>
              <a:t>Produce insights, experiment plans &amp; manuscripts</a:t>
            </a:r>
            <a:endParaRPr lang="en-US" sz="1050" dirty="0"/>
          </a:p>
        </p:txBody>
      </p:sp>
      <p:sp>
        <p:nvSpPr>
          <p:cNvPr id="40" name="Shape 37"/>
          <p:cNvSpPr/>
          <p:nvPr/>
        </p:nvSpPr>
        <p:spPr>
          <a:xfrm>
            <a:off x="8121244" y="3968496"/>
            <a:ext cx="3611880" cy="1965960"/>
          </a:xfrm>
          <a:prstGeom prst="roundRect">
            <a:avLst>
              <a:gd name="adj" fmla="val 5581"/>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1" name="Shape 38"/>
          <p:cNvSpPr/>
          <p:nvPr/>
        </p:nvSpPr>
        <p:spPr>
          <a:xfrm>
            <a:off x="8326984" y="4174236"/>
            <a:ext cx="502920" cy="502920"/>
          </a:xfrm>
          <a:prstGeom prst="ellipse">
            <a:avLst/>
          </a:prstGeom>
          <a:solidFill>
            <a:srgbClr val="F87171">
              <a:alpha val="28000"/>
            </a:srgbClr>
          </a:solidFill>
          <a:ln w="15875">
            <a:solidFill>
              <a:srgbClr val="F87171"/>
            </a:solidFill>
            <a:prstDash val="solid"/>
          </a:ln>
        </p:spPr>
      </p:sp>
      <p:sp>
        <p:nvSpPr>
          <p:cNvPr id="42" name="Text 39"/>
          <p:cNvSpPr/>
          <p:nvPr/>
        </p:nvSpPr>
        <p:spPr>
          <a:xfrm>
            <a:off x="8326984" y="4174236"/>
            <a:ext cx="502920" cy="502920"/>
          </a:xfrm>
          <a:prstGeom prst="rect">
            <a:avLst/>
          </a:prstGeom>
          <a:noFill/>
          <a:ln/>
        </p:spPr>
        <p:txBody>
          <a:bodyPr wrap="square" lIns="0" tIns="0" rIns="0" bIns="0" rtlCol="0" anchor="ctr"/>
          <a:lstStyle/>
          <a:p>
            <a:pPr algn="ctr" indent="0" marL="0">
              <a:buNone/>
            </a:pPr>
            <a:r>
              <a:rPr lang="en-US" sz="1800" b="1" dirty="0">
                <a:solidFill>
                  <a:srgbClr val="F87171"/>
                </a:solidFill>
                <a:latin typeface="Arial" pitchFamily="34" charset="0"/>
                <a:ea typeface="Arial" pitchFamily="34" charset="-122"/>
                <a:cs typeface="Arial" pitchFamily="34" charset="-120"/>
              </a:rPr>
              <a:t>6</a:t>
            </a:r>
            <a:endParaRPr lang="en-US" sz="1800" dirty="0"/>
          </a:p>
        </p:txBody>
      </p:sp>
      <p:sp>
        <p:nvSpPr>
          <p:cNvPr id="43" name="Text 40"/>
          <p:cNvSpPr/>
          <p:nvPr/>
        </p:nvSpPr>
        <p:spPr>
          <a:xfrm>
            <a:off x="8989924" y="4169664"/>
            <a:ext cx="260604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Validation</a:t>
            </a:r>
            <a:endParaRPr lang="en-US" sz="1700" dirty="0"/>
          </a:p>
        </p:txBody>
      </p:sp>
      <p:sp>
        <p:nvSpPr>
          <p:cNvPr id="44" name="Shape 41"/>
          <p:cNvSpPr/>
          <p:nvPr/>
        </p:nvSpPr>
        <p:spPr>
          <a:xfrm>
            <a:off x="8377276" y="4809744"/>
            <a:ext cx="3099816" cy="0"/>
          </a:xfrm>
          <a:prstGeom prst="line">
            <a:avLst/>
          </a:prstGeom>
          <a:noFill/>
          <a:ln w="12700">
            <a:solidFill>
              <a:srgbClr val="27272E"/>
            </a:solidFill>
            <a:prstDash val="solid"/>
          </a:ln>
        </p:spPr>
      </p:sp>
      <p:sp>
        <p:nvSpPr>
          <p:cNvPr id="45" name="Text 42"/>
          <p:cNvSpPr/>
          <p:nvPr/>
        </p:nvSpPr>
        <p:spPr>
          <a:xfrm>
            <a:off x="8377276" y="4928616"/>
            <a:ext cx="3099816" cy="566928"/>
          </a:xfrm>
          <a:prstGeom prst="rect">
            <a:avLst/>
          </a:prstGeom>
          <a:noFill/>
          <a:ln/>
        </p:spPr>
        <p:txBody>
          <a:bodyPr wrap="square" lIns="0" tIns="0" rIns="0" bIns="0" rtlCol="0" anchor="ctr"/>
          <a:lstStyle/>
          <a:p>
            <a:pPr indent="0" marL="0">
              <a:lnSpc>
                <a:spcPts val="1600"/>
              </a:lnSpc>
              <a:buNone/>
            </a:pPr>
            <a:r>
              <a:rPr lang="en-US" sz="1200" b="1" dirty="0">
                <a:solidFill>
                  <a:srgbClr val="F87171"/>
                </a:solidFill>
                <a:latin typeface="Calibri" pitchFamily="34" charset="0"/>
                <a:ea typeface="Calibri" pitchFamily="34" charset="-122"/>
                <a:cs typeface="Calibri" pitchFamily="34" charset="-120"/>
              </a:rPr>
              <a:t>Citation Verification · Quality Review</a:t>
            </a:r>
            <a:endParaRPr lang="en-US" sz="1200" dirty="0"/>
          </a:p>
        </p:txBody>
      </p:sp>
      <p:sp>
        <p:nvSpPr>
          <p:cNvPr id="46" name="Text 43"/>
          <p:cNvSpPr/>
          <p:nvPr/>
        </p:nvSpPr>
        <p:spPr>
          <a:xfrm>
            <a:off x="8377276" y="5449824"/>
            <a:ext cx="3099816" cy="438912"/>
          </a:xfrm>
          <a:prstGeom prst="rect">
            <a:avLst/>
          </a:prstGeom>
          <a:noFill/>
          <a:ln/>
        </p:spPr>
        <p:txBody>
          <a:bodyPr wrap="square" lIns="0" tIns="0" rIns="0" bIns="0" rtlCol="0" anchor="ctr"/>
          <a:lstStyle/>
          <a:p>
            <a:pPr indent="0" marL="0">
              <a:lnSpc>
                <a:spcPts val="1300"/>
              </a:lnSpc>
              <a:buNone/>
            </a:pPr>
            <a:r>
              <a:rPr lang="en-US" sz="1050" dirty="0">
                <a:solidFill>
                  <a:srgbClr val="9CA3AF"/>
                </a:solidFill>
                <a:latin typeface="Calibri" pitchFamily="34" charset="0"/>
                <a:ea typeface="Calibri" pitchFamily="34" charset="-122"/>
                <a:cs typeface="Calibri" pitchFamily="34" charset="-120"/>
              </a:rPr>
              <a:t>Verify citations, catch hallucinations, ensure quality</a:t>
            </a:r>
            <a:endParaRPr lang="en-US" sz="1050" dirty="0"/>
          </a:p>
        </p:txBody>
      </p:sp>
      <p:sp>
        <p:nvSpPr>
          <p:cNvPr id="47" name="Text 44"/>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 / 10</a:t>
            </a:r>
            <a:endParaRPr lang="en-US" sz="1000" dirty="0"/>
          </a:p>
        </p:txBody>
      </p:sp>
      <p:sp>
        <p:nvSpPr>
          <p:cNvPr id="48" name="Text 45"/>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RETRIEVAL-AUGMENTED GENERATION</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From query to verified research report</a:t>
            </a:r>
            <a:endParaRPr lang="en-US" sz="3400" dirty="0"/>
          </a:p>
        </p:txBody>
      </p:sp>
      <p:sp>
        <p:nvSpPr>
          <p:cNvPr id="5" name="Shape 2"/>
          <p:cNvSpPr/>
          <p:nvPr/>
        </p:nvSpPr>
        <p:spPr>
          <a:xfrm>
            <a:off x="548640"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 name="Shape 3"/>
          <p:cNvSpPr/>
          <p:nvPr/>
        </p:nvSpPr>
        <p:spPr>
          <a:xfrm>
            <a:off x="658368" y="2157984"/>
            <a:ext cx="749808" cy="182880"/>
          </a:xfrm>
          <a:prstGeom prst="roundRect">
            <a:avLst>
              <a:gd name="adj" fmla="val 50000"/>
            </a:avLst>
          </a:prstGeom>
          <a:solidFill>
            <a:srgbClr val="3B82F6"/>
          </a:solidFill>
          <a:ln/>
        </p:spPr>
      </p:sp>
      <p:sp>
        <p:nvSpPr>
          <p:cNvPr id="7" name="Text 4"/>
          <p:cNvSpPr/>
          <p:nvPr/>
        </p:nvSpPr>
        <p:spPr>
          <a:xfrm>
            <a:off x="603504"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Intent Detection</a:t>
            </a:r>
            <a:endParaRPr lang="en-US" sz="950" dirty="0"/>
          </a:p>
        </p:txBody>
      </p:sp>
      <p:sp>
        <p:nvSpPr>
          <p:cNvPr id="8" name="Text 5"/>
          <p:cNvSpPr/>
          <p:nvPr/>
        </p:nvSpPr>
        <p:spPr>
          <a:xfrm>
            <a:off x="594360"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Classify query type</a:t>
            </a:r>
            <a:endParaRPr lang="en-US" sz="730" dirty="0"/>
          </a:p>
        </p:txBody>
      </p:sp>
      <p:sp>
        <p:nvSpPr>
          <p:cNvPr id="9" name="Shape 6"/>
          <p:cNvSpPr/>
          <p:nvPr/>
        </p:nvSpPr>
        <p:spPr>
          <a:xfrm>
            <a:off x="1517904" y="2962656"/>
            <a:ext cx="43251" cy="0"/>
          </a:xfrm>
          <a:prstGeom prst="line">
            <a:avLst/>
          </a:prstGeom>
          <a:noFill/>
          <a:ln w="19050">
            <a:solidFill>
              <a:srgbClr val="27272E"/>
            </a:solidFill>
            <a:prstDash val="solid"/>
            <a:tailEnd type="triangle"/>
          </a:ln>
        </p:spPr>
      </p:sp>
      <p:sp>
        <p:nvSpPr>
          <p:cNvPr id="10" name="Shape 7"/>
          <p:cNvSpPr/>
          <p:nvPr/>
        </p:nvSpPr>
        <p:spPr>
          <a:xfrm>
            <a:off x="1561155"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1670883" y="2157984"/>
            <a:ext cx="749808" cy="182880"/>
          </a:xfrm>
          <a:prstGeom prst="roundRect">
            <a:avLst>
              <a:gd name="adj" fmla="val 50000"/>
            </a:avLst>
          </a:prstGeom>
          <a:solidFill>
            <a:srgbClr val="3B82F6"/>
          </a:solidFill>
          <a:ln/>
        </p:spPr>
      </p:sp>
      <p:sp>
        <p:nvSpPr>
          <p:cNvPr id="12" name="Text 9"/>
          <p:cNvSpPr/>
          <p:nvPr/>
        </p:nvSpPr>
        <p:spPr>
          <a:xfrm>
            <a:off x="1616019"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Query Expansion</a:t>
            </a:r>
            <a:endParaRPr lang="en-US" sz="950" dirty="0"/>
          </a:p>
        </p:txBody>
      </p:sp>
      <p:sp>
        <p:nvSpPr>
          <p:cNvPr id="13" name="Text 10"/>
          <p:cNvSpPr/>
          <p:nvPr/>
        </p:nvSpPr>
        <p:spPr>
          <a:xfrm>
            <a:off x="1606875"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Broaden search terms</a:t>
            </a:r>
            <a:endParaRPr lang="en-US" sz="730" dirty="0"/>
          </a:p>
        </p:txBody>
      </p:sp>
      <p:sp>
        <p:nvSpPr>
          <p:cNvPr id="14" name="Shape 11"/>
          <p:cNvSpPr/>
          <p:nvPr/>
        </p:nvSpPr>
        <p:spPr>
          <a:xfrm>
            <a:off x="2530419" y="2962656"/>
            <a:ext cx="43251" cy="0"/>
          </a:xfrm>
          <a:prstGeom prst="line">
            <a:avLst/>
          </a:prstGeom>
          <a:noFill/>
          <a:ln w="19050">
            <a:solidFill>
              <a:srgbClr val="27272E"/>
            </a:solidFill>
            <a:prstDash val="solid"/>
            <a:tailEnd type="triangle"/>
          </a:ln>
        </p:spPr>
      </p:sp>
      <p:sp>
        <p:nvSpPr>
          <p:cNvPr id="15" name="Shape 12"/>
          <p:cNvSpPr/>
          <p:nvPr/>
        </p:nvSpPr>
        <p:spPr>
          <a:xfrm>
            <a:off x="2573670"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6" name="Shape 13"/>
          <p:cNvSpPr/>
          <p:nvPr/>
        </p:nvSpPr>
        <p:spPr>
          <a:xfrm>
            <a:off x="2683398" y="2157984"/>
            <a:ext cx="749808" cy="182880"/>
          </a:xfrm>
          <a:prstGeom prst="roundRect">
            <a:avLst>
              <a:gd name="adj" fmla="val 50000"/>
            </a:avLst>
          </a:prstGeom>
          <a:solidFill>
            <a:srgbClr val="22D3EE"/>
          </a:solidFill>
          <a:ln/>
        </p:spPr>
      </p:sp>
      <p:sp>
        <p:nvSpPr>
          <p:cNvPr id="17" name="Text 14"/>
          <p:cNvSpPr/>
          <p:nvPr/>
        </p:nvSpPr>
        <p:spPr>
          <a:xfrm>
            <a:off x="2628534"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Vector Search</a:t>
            </a:r>
            <a:endParaRPr lang="en-US" sz="950" dirty="0"/>
          </a:p>
        </p:txBody>
      </p:sp>
      <p:sp>
        <p:nvSpPr>
          <p:cNvPr id="18" name="Text 15"/>
          <p:cNvSpPr/>
          <p:nvPr/>
        </p:nvSpPr>
        <p:spPr>
          <a:xfrm>
            <a:off x="2619390"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Qdrant · BGE-M3 (1024-d)</a:t>
            </a:r>
            <a:endParaRPr lang="en-US" sz="730" dirty="0"/>
          </a:p>
        </p:txBody>
      </p:sp>
      <p:sp>
        <p:nvSpPr>
          <p:cNvPr id="19" name="Shape 16"/>
          <p:cNvSpPr/>
          <p:nvPr/>
        </p:nvSpPr>
        <p:spPr>
          <a:xfrm>
            <a:off x="3542934" y="2962656"/>
            <a:ext cx="43251" cy="0"/>
          </a:xfrm>
          <a:prstGeom prst="line">
            <a:avLst/>
          </a:prstGeom>
          <a:noFill/>
          <a:ln w="19050">
            <a:solidFill>
              <a:srgbClr val="27272E"/>
            </a:solidFill>
            <a:prstDash val="solid"/>
            <a:tailEnd type="triangle"/>
          </a:ln>
        </p:spPr>
      </p:sp>
      <p:sp>
        <p:nvSpPr>
          <p:cNvPr id="20" name="Shape 17"/>
          <p:cNvSpPr/>
          <p:nvPr/>
        </p:nvSpPr>
        <p:spPr>
          <a:xfrm>
            <a:off x="3586185"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1" name="Shape 18"/>
          <p:cNvSpPr/>
          <p:nvPr/>
        </p:nvSpPr>
        <p:spPr>
          <a:xfrm>
            <a:off x="3695913" y="2157984"/>
            <a:ext cx="749808" cy="182880"/>
          </a:xfrm>
          <a:prstGeom prst="roundRect">
            <a:avLst>
              <a:gd name="adj" fmla="val 50000"/>
            </a:avLst>
          </a:prstGeom>
          <a:solidFill>
            <a:srgbClr val="22D3EE"/>
          </a:solidFill>
          <a:ln/>
        </p:spPr>
      </p:sp>
      <p:sp>
        <p:nvSpPr>
          <p:cNvPr id="22" name="Text 19"/>
          <p:cNvSpPr/>
          <p:nvPr/>
        </p:nvSpPr>
        <p:spPr>
          <a:xfrm>
            <a:off x="3641049"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Keyword Search</a:t>
            </a:r>
            <a:endParaRPr lang="en-US" sz="950" dirty="0"/>
          </a:p>
        </p:txBody>
      </p:sp>
      <p:sp>
        <p:nvSpPr>
          <p:cNvPr id="23" name="Text 20"/>
          <p:cNvSpPr/>
          <p:nvPr/>
        </p:nvSpPr>
        <p:spPr>
          <a:xfrm>
            <a:off x="3631905"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Lexical matching pass</a:t>
            </a:r>
            <a:endParaRPr lang="en-US" sz="730" dirty="0"/>
          </a:p>
        </p:txBody>
      </p:sp>
      <p:sp>
        <p:nvSpPr>
          <p:cNvPr id="24" name="Shape 21"/>
          <p:cNvSpPr/>
          <p:nvPr/>
        </p:nvSpPr>
        <p:spPr>
          <a:xfrm>
            <a:off x="4555449" y="2962656"/>
            <a:ext cx="43251" cy="0"/>
          </a:xfrm>
          <a:prstGeom prst="line">
            <a:avLst/>
          </a:prstGeom>
          <a:noFill/>
          <a:ln w="19050">
            <a:solidFill>
              <a:srgbClr val="27272E"/>
            </a:solidFill>
            <a:prstDash val="solid"/>
            <a:tailEnd type="triangle"/>
          </a:ln>
        </p:spPr>
      </p:sp>
      <p:sp>
        <p:nvSpPr>
          <p:cNvPr id="25" name="Shape 22"/>
          <p:cNvSpPr/>
          <p:nvPr/>
        </p:nvSpPr>
        <p:spPr>
          <a:xfrm>
            <a:off x="4598700"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6" name="Shape 23"/>
          <p:cNvSpPr/>
          <p:nvPr/>
        </p:nvSpPr>
        <p:spPr>
          <a:xfrm>
            <a:off x="4708428" y="2157984"/>
            <a:ext cx="749808" cy="182880"/>
          </a:xfrm>
          <a:prstGeom prst="roundRect">
            <a:avLst>
              <a:gd name="adj" fmla="val 50000"/>
            </a:avLst>
          </a:prstGeom>
          <a:solidFill>
            <a:srgbClr val="22D3EE"/>
          </a:solidFill>
          <a:ln/>
        </p:spPr>
      </p:sp>
      <p:sp>
        <p:nvSpPr>
          <p:cNvPr id="27" name="Text 24"/>
          <p:cNvSpPr/>
          <p:nvPr/>
        </p:nvSpPr>
        <p:spPr>
          <a:xfrm>
            <a:off x="4653564"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Knowledge Graph</a:t>
            </a:r>
            <a:endParaRPr lang="en-US" sz="950" dirty="0"/>
          </a:p>
        </p:txBody>
      </p:sp>
      <p:sp>
        <p:nvSpPr>
          <p:cNvPr id="28" name="Text 25"/>
          <p:cNvSpPr/>
          <p:nvPr/>
        </p:nvSpPr>
        <p:spPr>
          <a:xfrm>
            <a:off x="4644420"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Neo4j relationship query</a:t>
            </a:r>
            <a:endParaRPr lang="en-US" sz="730" dirty="0"/>
          </a:p>
        </p:txBody>
      </p:sp>
      <p:sp>
        <p:nvSpPr>
          <p:cNvPr id="29" name="Shape 26"/>
          <p:cNvSpPr/>
          <p:nvPr/>
        </p:nvSpPr>
        <p:spPr>
          <a:xfrm>
            <a:off x="5567964" y="2962656"/>
            <a:ext cx="43251" cy="0"/>
          </a:xfrm>
          <a:prstGeom prst="line">
            <a:avLst/>
          </a:prstGeom>
          <a:noFill/>
          <a:ln w="19050">
            <a:solidFill>
              <a:srgbClr val="27272E"/>
            </a:solidFill>
            <a:prstDash val="solid"/>
            <a:tailEnd type="triangle"/>
          </a:ln>
        </p:spPr>
      </p:sp>
      <p:sp>
        <p:nvSpPr>
          <p:cNvPr id="30" name="Shape 27"/>
          <p:cNvSpPr/>
          <p:nvPr/>
        </p:nvSpPr>
        <p:spPr>
          <a:xfrm>
            <a:off x="5611216"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1" name="Shape 28"/>
          <p:cNvSpPr/>
          <p:nvPr/>
        </p:nvSpPr>
        <p:spPr>
          <a:xfrm>
            <a:off x="5720944" y="2157984"/>
            <a:ext cx="749808" cy="182880"/>
          </a:xfrm>
          <a:prstGeom prst="roundRect">
            <a:avLst>
              <a:gd name="adj" fmla="val 50000"/>
            </a:avLst>
          </a:prstGeom>
          <a:solidFill>
            <a:srgbClr val="8B5CF6"/>
          </a:solidFill>
          <a:ln/>
        </p:spPr>
      </p:sp>
      <p:sp>
        <p:nvSpPr>
          <p:cNvPr id="32" name="Text 29"/>
          <p:cNvSpPr/>
          <p:nvPr/>
        </p:nvSpPr>
        <p:spPr>
          <a:xfrm>
            <a:off x="5666080"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Fusion Ranking</a:t>
            </a:r>
            <a:endParaRPr lang="en-US" sz="950" dirty="0"/>
          </a:p>
        </p:txBody>
      </p:sp>
      <p:sp>
        <p:nvSpPr>
          <p:cNvPr id="33" name="Text 30"/>
          <p:cNvSpPr/>
          <p:nvPr/>
        </p:nvSpPr>
        <p:spPr>
          <a:xfrm>
            <a:off x="5656936"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Merge &amp; rerank candidates</a:t>
            </a:r>
            <a:endParaRPr lang="en-US" sz="730" dirty="0"/>
          </a:p>
        </p:txBody>
      </p:sp>
      <p:sp>
        <p:nvSpPr>
          <p:cNvPr id="34" name="Shape 31"/>
          <p:cNvSpPr/>
          <p:nvPr/>
        </p:nvSpPr>
        <p:spPr>
          <a:xfrm>
            <a:off x="6580480" y="2962656"/>
            <a:ext cx="43251" cy="0"/>
          </a:xfrm>
          <a:prstGeom prst="line">
            <a:avLst/>
          </a:prstGeom>
          <a:noFill/>
          <a:ln w="19050">
            <a:solidFill>
              <a:srgbClr val="27272E"/>
            </a:solidFill>
            <a:prstDash val="solid"/>
            <a:tailEnd type="triangle"/>
          </a:ln>
        </p:spPr>
      </p:sp>
      <p:sp>
        <p:nvSpPr>
          <p:cNvPr id="35" name="Shape 32"/>
          <p:cNvSpPr/>
          <p:nvPr/>
        </p:nvSpPr>
        <p:spPr>
          <a:xfrm>
            <a:off x="6623731"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6" name="Shape 33"/>
          <p:cNvSpPr/>
          <p:nvPr/>
        </p:nvSpPr>
        <p:spPr>
          <a:xfrm>
            <a:off x="6733459" y="2157984"/>
            <a:ext cx="749808" cy="182880"/>
          </a:xfrm>
          <a:prstGeom prst="roundRect">
            <a:avLst>
              <a:gd name="adj" fmla="val 50000"/>
            </a:avLst>
          </a:prstGeom>
          <a:solidFill>
            <a:srgbClr val="8B5CF6"/>
          </a:solidFill>
          <a:ln/>
        </p:spPr>
      </p:sp>
      <p:sp>
        <p:nvSpPr>
          <p:cNvPr id="37" name="Text 34"/>
          <p:cNvSpPr/>
          <p:nvPr/>
        </p:nvSpPr>
        <p:spPr>
          <a:xfrm>
            <a:off x="6678595"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Evidence Retrieval</a:t>
            </a:r>
            <a:endParaRPr lang="en-US" sz="950" dirty="0"/>
          </a:p>
        </p:txBody>
      </p:sp>
      <p:sp>
        <p:nvSpPr>
          <p:cNvPr id="38" name="Text 35"/>
          <p:cNvSpPr/>
          <p:nvPr/>
        </p:nvSpPr>
        <p:spPr>
          <a:xfrm>
            <a:off x="6669451"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Top-N reranked chunks</a:t>
            </a:r>
            <a:endParaRPr lang="en-US" sz="730" dirty="0"/>
          </a:p>
        </p:txBody>
      </p:sp>
      <p:sp>
        <p:nvSpPr>
          <p:cNvPr id="39" name="Shape 36"/>
          <p:cNvSpPr/>
          <p:nvPr/>
        </p:nvSpPr>
        <p:spPr>
          <a:xfrm>
            <a:off x="7592995" y="2962656"/>
            <a:ext cx="43251" cy="0"/>
          </a:xfrm>
          <a:prstGeom prst="line">
            <a:avLst/>
          </a:prstGeom>
          <a:noFill/>
          <a:ln w="19050">
            <a:solidFill>
              <a:srgbClr val="27272E"/>
            </a:solidFill>
            <a:prstDash val="solid"/>
            <a:tailEnd type="triangle"/>
          </a:ln>
        </p:spPr>
      </p:sp>
      <p:sp>
        <p:nvSpPr>
          <p:cNvPr id="40" name="Shape 37"/>
          <p:cNvSpPr/>
          <p:nvPr/>
        </p:nvSpPr>
        <p:spPr>
          <a:xfrm>
            <a:off x="7636246"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1" name="Shape 38"/>
          <p:cNvSpPr/>
          <p:nvPr/>
        </p:nvSpPr>
        <p:spPr>
          <a:xfrm>
            <a:off x="7745974" y="2157984"/>
            <a:ext cx="749808" cy="182880"/>
          </a:xfrm>
          <a:prstGeom prst="roundRect">
            <a:avLst>
              <a:gd name="adj" fmla="val 50000"/>
            </a:avLst>
          </a:prstGeom>
          <a:solidFill>
            <a:srgbClr val="8B5CF6"/>
          </a:solidFill>
          <a:ln/>
        </p:spPr>
      </p:sp>
      <p:sp>
        <p:nvSpPr>
          <p:cNvPr id="42" name="Text 39"/>
          <p:cNvSpPr/>
          <p:nvPr/>
        </p:nvSpPr>
        <p:spPr>
          <a:xfrm>
            <a:off x="7691110"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Context Builder</a:t>
            </a:r>
            <a:endParaRPr lang="en-US" sz="950" dirty="0"/>
          </a:p>
        </p:txBody>
      </p:sp>
      <p:sp>
        <p:nvSpPr>
          <p:cNvPr id="43" name="Text 40"/>
          <p:cNvSpPr/>
          <p:nvPr/>
        </p:nvSpPr>
        <p:spPr>
          <a:xfrm>
            <a:off x="7681966"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Assemble grounded prompt</a:t>
            </a:r>
            <a:endParaRPr lang="en-US" sz="730" dirty="0"/>
          </a:p>
        </p:txBody>
      </p:sp>
      <p:sp>
        <p:nvSpPr>
          <p:cNvPr id="44" name="Shape 41"/>
          <p:cNvSpPr/>
          <p:nvPr/>
        </p:nvSpPr>
        <p:spPr>
          <a:xfrm>
            <a:off x="8605510" y="2962656"/>
            <a:ext cx="43251" cy="0"/>
          </a:xfrm>
          <a:prstGeom prst="line">
            <a:avLst/>
          </a:prstGeom>
          <a:noFill/>
          <a:ln w="19050">
            <a:solidFill>
              <a:srgbClr val="27272E"/>
            </a:solidFill>
            <a:prstDash val="solid"/>
            <a:tailEnd type="triangle"/>
          </a:ln>
        </p:spPr>
      </p:sp>
      <p:sp>
        <p:nvSpPr>
          <p:cNvPr id="45" name="Shape 42"/>
          <p:cNvSpPr/>
          <p:nvPr/>
        </p:nvSpPr>
        <p:spPr>
          <a:xfrm>
            <a:off x="8648761"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6" name="Shape 43"/>
          <p:cNvSpPr/>
          <p:nvPr/>
        </p:nvSpPr>
        <p:spPr>
          <a:xfrm>
            <a:off x="8758489" y="2157984"/>
            <a:ext cx="749808" cy="182880"/>
          </a:xfrm>
          <a:prstGeom prst="roundRect">
            <a:avLst>
              <a:gd name="adj" fmla="val 50000"/>
            </a:avLst>
          </a:prstGeom>
          <a:solidFill>
            <a:srgbClr val="F59E0B"/>
          </a:solidFill>
          <a:ln/>
        </p:spPr>
      </p:sp>
      <p:sp>
        <p:nvSpPr>
          <p:cNvPr id="47" name="Text 44"/>
          <p:cNvSpPr/>
          <p:nvPr/>
        </p:nvSpPr>
        <p:spPr>
          <a:xfrm>
            <a:off x="8703625"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LLM Gateway</a:t>
            </a:r>
            <a:endParaRPr lang="en-US" sz="950" dirty="0"/>
          </a:p>
        </p:txBody>
      </p:sp>
      <p:sp>
        <p:nvSpPr>
          <p:cNvPr id="48" name="Text 45"/>
          <p:cNvSpPr/>
          <p:nvPr/>
        </p:nvSpPr>
        <p:spPr>
          <a:xfrm>
            <a:off x="8694481"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Route to Kimi K3 / Qwen3 / DeepSeek-V3</a:t>
            </a:r>
            <a:endParaRPr lang="en-US" sz="730" dirty="0"/>
          </a:p>
        </p:txBody>
      </p:sp>
      <p:sp>
        <p:nvSpPr>
          <p:cNvPr id="49" name="Shape 46"/>
          <p:cNvSpPr/>
          <p:nvPr/>
        </p:nvSpPr>
        <p:spPr>
          <a:xfrm>
            <a:off x="9618025" y="2962656"/>
            <a:ext cx="43251" cy="0"/>
          </a:xfrm>
          <a:prstGeom prst="line">
            <a:avLst/>
          </a:prstGeom>
          <a:noFill/>
          <a:ln w="19050">
            <a:solidFill>
              <a:srgbClr val="27272E"/>
            </a:solidFill>
            <a:prstDash val="solid"/>
            <a:tailEnd type="triangle"/>
          </a:ln>
        </p:spPr>
      </p:sp>
      <p:sp>
        <p:nvSpPr>
          <p:cNvPr id="50" name="Shape 47"/>
          <p:cNvSpPr/>
          <p:nvPr/>
        </p:nvSpPr>
        <p:spPr>
          <a:xfrm>
            <a:off x="9661276"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51" name="Shape 48"/>
          <p:cNvSpPr/>
          <p:nvPr/>
        </p:nvSpPr>
        <p:spPr>
          <a:xfrm>
            <a:off x="9771004" y="2157984"/>
            <a:ext cx="749808" cy="182880"/>
          </a:xfrm>
          <a:prstGeom prst="roundRect">
            <a:avLst>
              <a:gd name="adj" fmla="val 50000"/>
            </a:avLst>
          </a:prstGeom>
          <a:solidFill>
            <a:srgbClr val="34D399"/>
          </a:solidFill>
          <a:ln/>
        </p:spPr>
      </p:sp>
      <p:sp>
        <p:nvSpPr>
          <p:cNvPr id="52" name="Text 49"/>
          <p:cNvSpPr/>
          <p:nvPr/>
        </p:nvSpPr>
        <p:spPr>
          <a:xfrm>
            <a:off x="9716140"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Citation Verification</a:t>
            </a:r>
            <a:endParaRPr lang="en-US" sz="950" dirty="0"/>
          </a:p>
        </p:txBody>
      </p:sp>
      <p:sp>
        <p:nvSpPr>
          <p:cNvPr id="53" name="Text 50"/>
          <p:cNvSpPr/>
          <p:nvPr/>
        </p:nvSpPr>
        <p:spPr>
          <a:xfrm>
            <a:off x="9706996"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DOI check via Crossref</a:t>
            </a:r>
            <a:endParaRPr lang="en-US" sz="730" dirty="0"/>
          </a:p>
        </p:txBody>
      </p:sp>
      <p:sp>
        <p:nvSpPr>
          <p:cNvPr id="54" name="Shape 51"/>
          <p:cNvSpPr/>
          <p:nvPr/>
        </p:nvSpPr>
        <p:spPr>
          <a:xfrm>
            <a:off x="10630540" y="2962656"/>
            <a:ext cx="43251" cy="0"/>
          </a:xfrm>
          <a:prstGeom prst="line">
            <a:avLst/>
          </a:prstGeom>
          <a:noFill/>
          <a:ln w="19050">
            <a:solidFill>
              <a:srgbClr val="27272E"/>
            </a:solidFill>
            <a:prstDash val="solid"/>
            <a:tailEnd type="triangle"/>
          </a:ln>
        </p:spPr>
      </p:sp>
      <p:sp>
        <p:nvSpPr>
          <p:cNvPr id="55" name="Shape 52"/>
          <p:cNvSpPr/>
          <p:nvPr/>
        </p:nvSpPr>
        <p:spPr>
          <a:xfrm>
            <a:off x="10673791" y="2377440"/>
            <a:ext cx="969264" cy="1170432"/>
          </a:xfrm>
          <a:prstGeom prst="roundRect">
            <a:avLst>
              <a:gd name="adj" fmla="val 8491"/>
            </a:avLst>
          </a:prstGeom>
          <a:solidFill>
            <a:srgbClr val="141417">
              <a:alpha val="94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56" name="Shape 53"/>
          <p:cNvSpPr/>
          <p:nvPr/>
        </p:nvSpPr>
        <p:spPr>
          <a:xfrm>
            <a:off x="10783519" y="2157984"/>
            <a:ext cx="749808" cy="182880"/>
          </a:xfrm>
          <a:prstGeom prst="roundRect">
            <a:avLst>
              <a:gd name="adj" fmla="val 50000"/>
            </a:avLst>
          </a:prstGeom>
          <a:solidFill>
            <a:srgbClr val="34D399"/>
          </a:solidFill>
          <a:ln/>
        </p:spPr>
      </p:sp>
      <p:sp>
        <p:nvSpPr>
          <p:cNvPr id="57" name="Text 54"/>
          <p:cNvSpPr/>
          <p:nvPr/>
        </p:nvSpPr>
        <p:spPr>
          <a:xfrm>
            <a:off x="10728655" y="2450592"/>
            <a:ext cx="859536" cy="603504"/>
          </a:xfrm>
          <a:prstGeom prst="rect">
            <a:avLst/>
          </a:prstGeom>
          <a:noFill/>
          <a:ln/>
        </p:spPr>
        <p:txBody>
          <a:bodyPr wrap="square" lIns="0" tIns="0" rIns="0" bIns="0" rtlCol="0" anchor="t"/>
          <a:lstStyle/>
          <a:p>
            <a:pPr algn="ctr" indent="0" marL="0">
              <a:lnSpc>
                <a:spcPts val="1100"/>
              </a:lnSpc>
              <a:buNone/>
            </a:pPr>
            <a:r>
              <a:rPr lang="en-US" sz="950" b="1" dirty="0">
                <a:solidFill>
                  <a:srgbClr val="F5F5F7"/>
                </a:solidFill>
                <a:latin typeface="Calibri" pitchFamily="34" charset="0"/>
                <a:ea typeface="Calibri" pitchFamily="34" charset="-122"/>
                <a:cs typeface="Calibri" pitchFamily="34" charset="-120"/>
              </a:rPr>
              <a:t>Final Research Report</a:t>
            </a:r>
            <a:endParaRPr lang="en-US" sz="950" dirty="0"/>
          </a:p>
        </p:txBody>
      </p:sp>
      <p:sp>
        <p:nvSpPr>
          <p:cNvPr id="58" name="Text 55"/>
          <p:cNvSpPr/>
          <p:nvPr/>
        </p:nvSpPr>
        <p:spPr>
          <a:xfrm>
            <a:off x="10719511" y="3090672"/>
            <a:ext cx="877824" cy="420624"/>
          </a:xfrm>
          <a:prstGeom prst="rect">
            <a:avLst/>
          </a:prstGeom>
          <a:noFill/>
          <a:ln/>
        </p:spPr>
        <p:txBody>
          <a:bodyPr wrap="square" lIns="0" tIns="0" rIns="0" bIns="0" rtlCol="0" anchor="ctr"/>
          <a:lstStyle/>
          <a:p>
            <a:pPr algn="ctr" indent="0" marL="0">
              <a:lnSpc>
                <a:spcPts val="900"/>
              </a:lnSpc>
              <a:buNone/>
            </a:pPr>
            <a:r>
              <a:rPr lang="en-US" sz="730" dirty="0">
                <a:solidFill>
                  <a:srgbClr val="9CA3AF"/>
                </a:solidFill>
                <a:latin typeface="Calibri" pitchFamily="34" charset="0"/>
                <a:ea typeface="Calibri" pitchFamily="34" charset="-122"/>
                <a:cs typeface="Calibri" pitchFamily="34" charset="-120"/>
              </a:rPr>
              <a:t>Answer · references · exports</a:t>
            </a:r>
            <a:endParaRPr lang="en-US" sz="730" dirty="0"/>
          </a:p>
        </p:txBody>
      </p:sp>
      <p:sp>
        <p:nvSpPr>
          <p:cNvPr id="59" name="Shape 56"/>
          <p:cNvSpPr/>
          <p:nvPr/>
        </p:nvSpPr>
        <p:spPr>
          <a:xfrm>
            <a:off x="548640" y="3977640"/>
            <a:ext cx="11091672" cy="1417320"/>
          </a:xfrm>
          <a:prstGeom prst="roundRect">
            <a:avLst>
              <a:gd name="adj" fmla="val 7742"/>
            </a:avLst>
          </a:prstGeom>
          <a:solidFill>
            <a:srgbClr val="1A1A1F">
              <a:alpha val="80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0" name="Text 57"/>
          <p:cNvSpPr/>
          <p:nvPr/>
        </p:nvSpPr>
        <p:spPr>
          <a:xfrm>
            <a:off x="914400" y="4160520"/>
            <a:ext cx="5486400" cy="274320"/>
          </a:xfrm>
          <a:prstGeom prst="rect">
            <a:avLst/>
          </a:prstGeom>
          <a:noFill/>
          <a:ln/>
        </p:spPr>
        <p:txBody>
          <a:bodyPr wrap="square" lIns="0" tIns="0" rIns="0" bIns="0" rtlCol="0" anchor="ctr"/>
          <a:lstStyle/>
          <a:p>
            <a:pPr indent="0" marL="0">
              <a:buNone/>
            </a:pPr>
            <a:r>
              <a:rPr lang="en-US" sz="1100" b="1" spc="150" kern="0" dirty="0">
                <a:solidFill>
                  <a:srgbClr val="22D3EE"/>
                </a:solidFill>
                <a:latin typeface="Calibri" pitchFamily="34" charset="0"/>
                <a:ea typeface="Calibri" pitchFamily="34" charset="-122"/>
                <a:cs typeface="Calibri" pitchFamily="34" charset="-120"/>
              </a:rPr>
              <a:t>GROUNDED IN FIVE ACADEMIC SOURCES</a:t>
            </a:r>
            <a:endParaRPr lang="en-US" sz="1100" dirty="0"/>
          </a:p>
        </p:txBody>
      </p:sp>
      <p:sp>
        <p:nvSpPr>
          <p:cNvPr id="61" name="Shape 58"/>
          <p:cNvSpPr/>
          <p:nvPr/>
        </p:nvSpPr>
        <p:spPr>
          <a:xfrm>
            <a:off x="914400" y="4572000"/>
            <a:ext cx="1874520" cy="457200"/>
          </a:xfrm>
          <a:prstGeom prst="roundRect">
            <a:avLst>
              <a:gd name="adj" fmla="val 50000"/>
            </a:avLst>
          </a:prstGeom>
          <a:solidFill>
            <a:srgbClr val="3B82F6">
              <a:alpha val="18000"/>
            </a:srgbClr>
          </a:solidFill>
          <a:ln w="12700">
            <a:solidFill>
              <a:srgbClr val="3B82F6"/>
            </a:solidFill>
            <a:prstDash val="solid"/>
          </a:ln>
        </p:spPr>
      </p:sp>
      <p:sp>
        <p:nvSpPr>
          <p:cNvPr id="62" name="Text 59"/>
          <p:cNvSpPr/>
          <p:nvPr/>
        </p:nvSpPr>
        <p:spPr>
          <a:xfrm>
            <a:off x="914400" y="4572000"/>
            <a:ext cx="1874520" cy="45720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Semantic Scholar</a:t>
            </a:r>
            <a:endParaRPr lang="en-US" sz="1150" dirty="0"/>
          </a:p>
        </p:txBody>
      </p:sp>
      <p:sp>
        <p:nvSpPr>
          <p:cNvPr id="63" name="Shape 60"/>
          <p:cNvSpPr/>
          <p:nvPr/>
        </p:nvSpPr>
        <p:spPr>
          <a:xfrm>
            <a:off x="2971800" y="4572000"/>
            <a:ext cx="1874520" cy="457200"/>
          </a:xfrm>
          <a:prstGeom prst="roundRect">
            <a:avLst>
              <a:gd name="adj" fmla="val 50000"/>
            </a:avLst>
          </a:prstGeom>
          <a:solidFill>
            <a:srgbClr val="3B82F6">
              <a:alpha val="18000"/>
            </a:srgbClr>
          </a:solidFill>
          <a:ln w="12700">
            <a:solidFill>
              <a:srgbClr val="3B82F6"/>
            </a:solidFill>
            <a:prstDash val="solid"/>
          </a:ln>
        </p:spPr>
      </p:sp>
      <p:sp>
        <p:nvSpPr>
          <p:cNvPr id="64" name="Text 61"/>
          <p:cNvSpPr/>
          <p:nvPr/>
        </p:nvSpPr>
        <p:spPr>
          <a:xfrm>
            <a:off x="2971800" y="4572000"/>
            <a:ext cx="1874520" cy="45720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OpenAlex</a:t>
            </a:r>
            <a:endParaRPr lang="en-US" sz="1150" dirty="0"/>
          </a:p>
        </p:txBody>
      </p:sp>
      <p:sp>
        <p:nvSpPr>
          <p:cNvPr id="65" name="Shape 62"/>
          <p:cNvSpPr/>
          <p:nvPr/>
        </p:nvSpPr>
        <p:spPr>
          <a:xfrm>
            <a:off x="5029200" y="4572000"/>
            <a:ext cx="1874520" cy="457200"/>
          </a:xfrm>
          <a:prstGeom prst="roundRect">
            <a:avLst>
              <a:gd name="adj" fmla="val 50000"/>
            </a:avLst>
          </a:prstGeom>
          <a:solidFill>
            <a:srgbClr val="3B82F6">
              <a:alpha val="18000"/>
            </a:srgbClr>
          </a:solidFill>
          <a:ln w="12700">
            <a:solidFill>
              <a:srgbClr val="3B82F6"/>
            </a:solidFill>
            <a:prstDash val="solid"/>
          </a:ln>
        </p:spPr>
      </p:sp>
      <p:sp>
        <p:nvSpPr>
          <p:cNvPr id="66" name="Text 63"/>
          <p:cNvSpPr/>
          <p:nvPr/>
        </p:nvSpPr>
        <p:spPr>
          <a:xfrm>
            <a:off x="5029200" y="4572000"/>
            <a:ext cx="1874520" cy="45720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arXiv</a:t>
            </a:r>
            <a:endParaRPr lang="en-US" sz="1150" dirty="0"/>
          </a:p>
        </p:txBody>
      </p:sp>
      <p:sp>
        <p:nvSpPr>
          <p:cNvPr id="67" name="Shape 64"/>
          <p:cNvSpPr/>
          <p:nvPr/>
        </p:nvSpPr>
        <p:spPr>
          <a:xfrm>
            <a:off x="7086600" y="4572000"/>
            <a:ext cx="1874520" cy="457200"/>
          </a:xfrm>
          <a:prstGeom prst="roundRect">
            <a:avLst>
              <a:gd name="adj" fmla="val 50000"/>
            </a:avLst>
          </a:prstGeom>
          <a:solidFill>
            <a:srgbClr val="3B82F6">
              <a:alpha val="18000"/>
            </a:srgbClr>
          </a:solidFill>
          <a:ln w="12700">
            <a:solidFill>
              <a:srgbClr val="3B82F6"/>
            </a:solidFill>
            <a:prstDash val="solid"/>
          </a:ln>
        </p:spPr>
      </p:sp>
      <p:sp>
        <p:nvSpPr>
          <p:cNvPr id="68" name="Text 65"/>
          <p:cNvSpPr/>
          <p:nvPr/>
        </p:nvSpPr>
        <p:spPr>
          <a:xfrm>
            <a:off x="7086600" y="4572000"/>
            <a:ext cx="1874520" cy="45720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PubMed</a:t>
            </a:r>
            <a:endParaRPr lang="en-US" sz="1150" dirty="0"/>
          </a:p>
        </p:txBody>
      </p:sp>
      <p:sp>
        <p:nvSpPr>
          <p:cNvPr id="69" name="Shape 66"/>
          <p:cNvSpPr/>
          <p:nvPr/>
        </p:nvSpPr>
        <p:spPr>
          <a:xfrm>
            <a:off x="9144000" y="4572000"/>
            <a:ext cx="1874520" cy="457200"/>
          </a:xfrm>
          <a:prstGeom prst="roundRect">
            <a:avLst>
              <a:gd name="adj" fmla="val 50000"/>
            </a:avLst>
          </a:prstGeom>
          <a:solidFill>
            <a:srgbClr val="3B82F6">
              <a:alpha val="18000"/>
            </a:srgbClr>
          </a:solidFill>
          <a:ln w="12700">
            <a:solidFill>
              <a:srgbClr val="3B82F6"/>
            </a:solidFill>
            <a:prstDash val="solid"/>
          </a:ln>
        </p:spPr>
      </p:sp>
      <p:sp>
        <p:nvSpPr>
          <p:cNvPr id="70" name="Text 67"/>
          <p:cNvSpPr/>
          <p:nvPr/>
        </p:nvSpPr>
        <p:spPr>
          <a:xfrm>
            <a:off x="9144000" y="4572000"/>
            <a:ext cx="1874520" cy="45720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Crossref</a:t>
            </a:r>
            <a:endParaRPr lang="en-US" sz="1150" dirty="0"/>
          </a:p>
        </p:txBody>
      </p:sp>
      <p:sp>
        <p:nvSpPr>
          <p:cNvPr id="71" name="Text 68"/>
          <p:cNvSpPr/>
          <p:nvPr/>
        </p:nvSpPr>
        <p:spPr>
          <a:xfrm>
            <a:off x="914400" y="5138928"/>
            <a:ext cx="10332720" cy="502920"/>
          </a:xfrm>
          <a:prstGeom prst="rect">
            <a:avLst/>
          </a:prstGeom>
          <a:noFill/>
          <a:ln/>
        </p:spPr>
        <p:txBody>
          <a:bodyPr wrap="square" lIns="0" tIns="0" rIns="0" bIns="0" rtlCol="0" anchor="ctr"/>
          <a:lstStyle/>
          <a:p>
            <a:pPr indent="0" marL="0">
              <a:lnSpc>
                <a:spcPts val="1600"/>
              </a:lnSpc>
              <a:buNone/>
            </a:pPr>
            <a:r>
              <a:rPr lang="en-US" sz="1200" b="1" dirty="0">
                <a:solidFill>
                  <a:srgbClr val="F5F5F7"/>
                </a:solidFill>
                <a:latin typeface="Calibri" pitchFamily="34" charset="0"/>
                <a:ea typeface="Calibri" pitchFamily="34" charset="-122"/>
                <a:cs typeface="Calibri" pitchFamily="34" charset="-120"/>
              </a:rPr>
              <a:t>Result:  </a:t>
            </a:r>
            <a:pPr indent="0" marL="0">
              <a:lnSpc>
                <a:spcPts val="1600"/>
              </a:lnSpc>
              <a:buNone/>
            </a:pPr>
            <a:r>
              <a:rPr lang="en-US" sz="1200" dirty="0">
                <a:solidFill>
                  <a:srgbClr val="9CA3AF"/>
                </a:solidFill>
                <a:latin typeface="Calibri" pitchFamily="34" charset="0"/>
                <a:ea typeface="Calibri" pitchFamily="34" charset="-122"/>
                <a:cs typeface="Calibri" pitchFamily="34" charset="-120"/>
              </a:rPr>
              <a:t>every generated claim traces back to a retrieved chunk, its source DOI, and a confidence score — not the model's memory.</a:t>
            </a:r>
            <a:endParaRPr lang="en-US" sz="1200" dirty="0"/>
          </a:p>
        </p:txBody>
      </p:sp>
      <p:sp>
        <p:nvSpPr>
          <p:cNvPr id="72" name="Text 69"/>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 / 10</a:t>
            </a:r>
            <a:endParaRPr lang="en-US" sz="1000" dirty="0"/>
          </a:p>
        </p:txBody>
      </p:sp>
      <p:sp>
        <p:nvSpPr>
          <p:cNvPr id="73" name="Text 70"/>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FOUNDATIONS</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Data, memory, security &amp; infrastructure</a:t>
            </a:r>
            <a:endParaRPr lang="en-US" sz="3400" dirty="0"/>
          </a:p>
        </p:txBody>
      </p:sp>
      <p:sp>
        <p:nvSpPr>
          <p:cNvPr id="5" name="Shape 2"/>
          <p:cNvSpPr/>
          <p:nvPr/>
        </p:nvSpPr>
        <p:spPr>
          <a:xfrm>
            <a:off x="458572" y="1691640"/>
            <a:ext cx="3611880" cy="4160520"/>
          </a:xfrm>
          <a:prstGeom prst="roundRect">
            <a:avLst>
              <a:gd name="adj" fmla="val 3038"/>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 name="Shape 3"/>
          <p:cNvSpPr/>
          <p:nvPr/>
        </p:nvSpPr>
        <p:spPr>
          <a:xfrm>
            <a:off x="458572" y="1691640"/>
            <a:ext cx="3611880" cy="566928"/>
          </a:xfrm>
          <a:prstGeom prst="roundRect">
            <a:avLst>
              <a:gd name="adj" fmla="val 19355"/>
            </a:avLst>
          </a:prstGeom>
          <a:solidFill>
            <a:srgbClr val="3B82F6">
              <a:alpha val="18000"/>
            </a:srgbClr>
          </a:solidFill>
          <a:ln/>
        </p:spPr>
      </p:sp>
      <p:sp>
        <p:nvSpPr>
          <p:cNvPr id="7" name="Text 4"/>
          <p:cNvSpPr/>
          <p:nvPr/>
        </p:nvSpPr>
        <p:spPr>
          <a:xfrm>
            <a:off x="714604" y="1691640"/>
            <a:ext cx="3154680" cy="566928"/>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Data &amp; Memory</a:t>
            </a:r>
            <a:endParaRPr lang="en-US" sz="1600" dirty="0"/>
          </a:p>
        </p:txBody>
      </p:sp>
      <p:sp>
        <p:nvSpPr>
          <p:cNvPr id="8" name="Shape 5"/>
          <p:cNvSpPr/>
          <p:nvPr/>
        </p:nvSpPr>
        <p:spPr>
          <a:xfrm>
            <a:off x="714604" y="2569464"/>
            <a:ext cx="310896" cy="310896"/>
          </a:xfrm>
          <a:prstGeom prst="ellipse">
            <a:avLst/>
          </a:prstGeom>
          <a:solidFill>
            <a:srgbClr val="3B82F6">
              <a:alpha val="30000"/>
            </a:srgbClr>
          </a:solidFill>
          <a:ln w="15875">
            <a:solidFill>
              <a:srgbClr val="3B82F6"/>
            </a:solidFill>
            <a:prstDash val="solid"/>
          </a:ln>
        </p:spPr>
      </p:sp>
      <p:sp>
        <p:nvSpPr>
          <p:cNvPr id="9" name="Text 6"/>
          <p:cNvSpPr/>
          <p:nvPr/>
        </p:nvSpPr>
        <p:spPr>
          <a:xfrm>
            <a:off x="714604" y="2569464"/>
            <a:ext cx="310896" cy="310896"/>
          </a:xfrm>
          <a:prstGeom prst="rect">
            <a:avLst/>
          </a:prstGeom>
          <a:noFill/>
          <a:ln/>
        </p:spPr>
        <p:txBody>
          <a:bodyPr wrap="square" lIns="0" tIns="0" rIns="0" bIns="0" rtlCol="0" anchor="ctr"/>
          <a:lstStyle/>
          <a:p>
            <a:pPr algn="ctr" indent="0" marL="0">
              <a:buNone/>
            </a:pPr>
            <a:r>
              <a:rPr lang="en-US" sz="800" b="1" dirty="0">
                <a:solidFill>
                  <a:srgbClr val="3B82F6"/>
                </a:solidFill>
                <a:latin typeface="Arial" pitchFamily="34" charset="0"/>
                <a:ea typeface="Arial" pitchFamily="34" charset="-122"/>
                <a:cs typeface="Arial" pitchFamily="34" charset="-120"/>
              </a:rPr>
              <a:t>●</a:t>
            </a:r>
            <a:endParaRPr lang="en-US" sz="800" dirty="0"/>
          </a:p>
        </p:txBody>
      </p:sp>
      <p:sp>
        <p:nvSpPr>
          <p:cNvPr id="10" name="Text 7"/>
          <p:cNvSpPr/>
          <p:nvPr/>
        </p:nvSpPr>
        <p:spPr>
          <a:xfrm>
            <a:off x="1116940" y="246888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PostgreSQL</a:t>
            </a:r>
            <a:endParaRPr lang="en-US" sz="1300" dirty="0"/>
          </a:p>
        </p:txBody>
      </p:sp>
      <p:sp>
        <p:nvSpPr>
          <p:cNvPr id="11" name="Text 8"/>
          <p:cNvSpPr/>
          <p:nvPr/>
        </p:nvSpPr>
        <p:spPr>
          <a:xfrm>
            <a:off x="1116940" y="273405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Users, projects, papers, citations</a:t>
            </a:r>
            <a:endParaRPr lang="en-US" sz="1000" dirty="0"/>
          </a:p>
        </p:txBody>
      </p:sp>
      <p:sp>
        <p:nvSpPr>
          <p:cNvPr id="12" name="Shape 9"/>
          <p:cNvSpPr/>
          <p:nvPr/>
        </p:nvSpPr>
        <p:spPr>
          <a:xfrm>
            <a:off x="714604" y="3392424"/>
            <a:ext cx="310896" cy="310896"/>
          </a:xfrm>
          <a:prstGeom prst="ellipse">
            <a:avLst/>
          </a:prstGeom>
          <a:solidFill>
            <a:srgbClr val="3B82F6">
              <a:alpha val="30000"/>
            </a:srgbClr>
          </a:solidFill>
          <a:ln w="15875">
            <a:solidFill>
              <a:srgbClr val="3B82F6"/>
            </a:solidFill>
            <a:prstDash val="solid"/>
          </a:ln>
        </p:spPr>
      </p:sp>
      <p:sp>
        <p:nvSpPr>
          <p:cNvPr id="13" name="Text 10"/>
          <p:cNvSpPr/>
          <p:nvPr/>
        </p:nvSpPr>
        <p:spPr>
          <a:xfrm>
            <a:off x="714604" y="3392424"/>
            <a:ext cx="310896" cy="310896"/>
          </a:xfrm>
          <a:prstGeom prst="rect">
            <a:avLst/>
          </a:prstGeom>
          <a:noFill/>
          <a:ln/>
        </p:spPr>
        <p:txBody>
          <a:bodyPr wrap="square" lIns="0" tIns="0" rIns="0" bIns="0" rtlCol="0" anchor="ctr"/>
          <a:lstStyle/>
          <a:p>
            <a:pPr algn="ctr" indent="0" marL="0">
              <a:buNone/>
            </a:pPr>
            <a:r>
              <a:rPr lang="en-US" sz="800" b="1" dirty="0">
                <a:solidFill>
                  <a:srgbClr val="3B82F6"/>
                </a:solidFill>
                <a:latin typeface="Arial" pitchFamily="34" charset="0"/>
                <a:ea typeface="Arial" pitchFamily="34" charset="-122"/>
                <a:cs typeface="Arial" pitchFamily="34" charset="-120"/>
              </a:rPr>
              <a:t>●</a:t>
            </a:r>
            <a:endParaRPr lang="en-US" sz="800" dirty="0"/>
          </a:p>
        </p:txBody>
      </p:sp>
      <p:sp>
        <p:nvSpPr>
          <p:cNvPr id="14" name="Text 11"/>
          <p:cNvSpPr/>
          <p:nvPr/>
        </p:nvSpPr>
        <p:spPr>
          <a:xfrm>
            <a:off x="1116940" y="329184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Qdrant</a:t>
            </a:r>
            <a:endParaRPr lang="en-US" sz="1300" dirty="0"/>
          </a:p>
        </p:txBody>
      </p:sp>
      <p:sp>
        <p:nvSpPr>
          <p:cNvPr id="15" name="Text 12"/>
          <p:cNvSpPr/>
          <p:nvPr/>
        </p:nvSpPr>
        <p:spPr>
          <a:xfrm>
            <a:off x="1116940" y="355701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Vector embeddings for hybrid RAG</a:t>
            </a:r>
            <a:endParaRPr lang="en-US" sz="1000" dirty="0"/>
          </a:p>
        </p:txBody>
      </p:sp>
      <p:sp>
        <p:nvSpPr>
          <p:cNvPr id="16" name="Shape 13"/>
          <p:cNvSpPr/>
          <p:nvPr/>
        </p:nvSpPr>
        <p:spPr>
          <a:xfrm>
            <a:off x="714604" y="4215384"/>
            <a:ext cx="310896" cy="310896"/>
          </a:xfrm>
          <a:prstGeom prst="ellipse">
            <a:avLst/>
          </a:prstGeom>
          <a:solidFill>
            <a:srgbClr val="3B82F6">
              <a:alpha val="30000"/>
            </a:srgbClr>
          </a:solidFill>
          <a:ln w="15875">
            <a:solidFill>
              <a:srgbClr val="3B82F6"/>
            </a:solidFill>
            <a:prstDash val="solid"/>
          </a:ln>
        </p:spPr>
      </p:sp>
      <p:sp>
        <p:nvSpPr>
          <p:cNvPr id="17" name="Text 14"/>
          <p:cNvSpPr/>
          <p:nvPr/>
        </p:nvSpPr>
        <p:spPr>
          <a:xfrm>
            <a:off x="714604" y="4215384"/>
            <a:ext cx="310896" cy="310896"/>
          </a:xfrm>
          <a:prstGeom prst="rect">
            <a:avLst/>
          </a:prstGeom>
          <a:noFill/>
          <a:ln/>
        </p:spPr>
        <p:txBody>
          <a:bodyPr wrap="square" lIns="0" tIns="0" rIns="0" bIns="0" rtlCol="0" anchor="ctr"/>
          <a:lstStyle/>
          <a:p>
            <a:pPr algn="ctr" indent="0" marL="0">
              <a:buNone/>
            </a:pPr>
            <a:r>
              <a:rPr lang="en-US" sz="800" b="1" dirty="0">
                <a:solidFill>
                  <a:srgbClr val="3B82F6"/>
                </a:solidFill>
                <a:latin typeface="Arial" pitchFamily="34" charset="0"/>
                <a:ea typeface="Arial" pitchFamily="34" charset="-122"/>
                <a:cs typeface="Arial" pitchFamily="34" charset="-120"/>
              </a:rPr>
              <a:t>●</a:t>
            </a:r>
            <a:endParaRPr lang="en-US" sz="800" dirty="0"/>
          </a:p>
        </p:txBody>
      </p:sp>
      <p:sp>
        <p:nvSpPr>
          <p:cNvPr id="18" name="Text 15"/>
          <p:cNvSpPr/>
          <p:nvPr/>
        </p:nvSpPr>
        <p:spPr>
          <a:xfrm>
            <a:off x="1116940" y="411480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Neo4j</a:t>
            </a:r>
            <a:endParaRPr lang="en-US" sz="1300" dirty="0"/>
          </a:p>
        </p:txBody>
      </p:sp>
      <p:sp>
        <p:nvSpPr>
          <p:cNvPr id="19" name="Text 16"/>
          <p:cNvSpPr/>
          <p:nvPr/>
        </p:nvSpPr>
        <p:spPr>
          <a:xfrm>
            <a:off x="1116940" y="437997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Knowledge graph of research relations</a:t>
            </a:r>
            <a:endParaRPr lang="en-US" sz="1000" dirty="0"/>
          </a:p>
        </p:txBody>
      </p:sp>
      <p:sp>
        <p:nvSpPr>
          <p:cNvPr id="20" name="Shape 17"/>
          <p:cNvSpPr/>
          <p:nvPr/>
        </p:nvSpPr>
        <p:spPr>
          <a:xfrm>
            <a:off x="714604" y="5038344"/>
            <a:ext cx="310896" cy="310896"/>
          </a:xfrm>
          <a:prstGeom prst="ellipse">
            <a:avLst/>
          </a:prstGeom>
          <a:solidFill>
            <a:srgbClr val="3B82F6">
              <a:alpha val="30000"/>
            </a:srgbClr>
          </a:solidFill>
          <a:ln w="15875">
            <a:solidFill>
              <a:srgbClr val="3B82F6"/>
            </a:solidFill>
            <a:prstDash val="solid"/>
          </a:ln>
        </p:spPr>
      </p:sp>
      <p:sp>
        <p:nvSpPr>
          <p:cNvPr id="21" name="Text 18"/>
          <p:cNvSpPr/>
          <p:nvPr/>
        </p:nvSpPr>
        <p:spPr>
          <a:xfrm>
            <a:off x="714604" y="5038344"/>
            <a:ext cx="310896" cy="310896"/>
          </a:xfrm>
          <a:prstGeom prst="rect">
            <a:avLst/>
          </a:prstGeom>
          <a:noFill/>
          <a:ln/>
        </p:spPr>
        <p:txBody>
          <a:bodyPr wrap="square" lIns="0" tIns="0" rIns="0" bIns="0" rtlCol="0" anchor="ctr"/>
          <a:lstStyle/>
          <a:p>
            <a:pPr algn="ctr" indent="0" marL="0">
              <a:buNone/>
            </a:pPr>
            <a:r>
              <a:rPr lang="en-US" sz="800" b="1" dirty="0">
                <a:solidFill>
                  <a:srgbClr val="3B82F6"/>
                </a:solidFill>
                <a:latin typeface="Arial" pitchFamily="34" charset="0"/>
                <a:ea typeface="Arial" pitchFamily="34" charset="-122"/>
                <a:cs typeface="Arial" pitchFamily="34" charset="-120"/>
              </a:rPr>
              <a:t>●</a:t>
            </a:r>
            <a:endParaRPr lang="en-US" sz="800" dirty="0"/>
          </a:p>
        </p:txBody>
      </p:sp>
      <p:sp>
        <p:nvSpPr>
          <p:cNvPr id="22" name="Text 19"/>
          <p:cNvSpPr/>
          <p:nvPr/>
        </p:nvSpPr>
        <p:spPr>
          <a:xfrm>
            <a:off x="1116940" y="493776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Redis</a:t>
            </a:r>
            <a:endParaRPr lang="en-US" sz="1300" dirty="0"/>
          </a:p>
        </p:txBody>
      </p:sp>
      <p:sp>
        <p:nvSpPr>
          <p:cNvPr id="23" name="Text 20"/>
          <p:cNvSpPr/>
          <p:nvPr/>
        </p:nvSpPr>
        <p:spPr>
          <a:xfrm>
            <a:off x="1116940" y="520293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Session cache &amp; rate-limit counters</a:t>
            </a:r>
            <a:endParaRPr lang="en-US" sz="1000" dirty="0"/>
          </a:p>
        </p:txBody>
      </p:sp>
      <p:sp>
        <p:nvSpPr>
          <p:cNvPr id="24" name="Shape 21"/>
          <p:cNvSpPr/>
          <p:nvPr/>
        </p:nvSpPr>
        <p:spPr>
          <a:xfrm>
            <a:off x="4289908" y="1691640"/>
            <a:ext cx="3611880" cy="4160520"/>
          </a:xfrm>
          <a:prstGeom prst="roundRect">
            <a:avLst>
              <a:gd name="adj" fmla="val 3038"/>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5" name="Shape 22"/>
          <p:cNvSpPr/>
          <p:nvPr/>
        </p:nvSpPr>
        <p:spPr>
          <a:xfrm>
            <a:off x="4289908" y="1691640"/>
            <a:ext cx="3611880" cy="566928"/>
          </a:xfrm>
          <a:prstGeom prst="roundRect">
            <a:avLst>
              <a:gd name="adj" fmla="val 19355"/>
            </a:avLst>
          </a:prstGeom>
          <a:solidFill>
            <a:srgbClr val="8B5CF6">
              <a:alpha val="18000"/>
            </a:srgbClr>
          </a:solidFill>
          <a:ln/>
        </p:spPr>
      </p:sp>
      <p:sp>
        <p:nvSpPr>
          <p:cNvPr id="26" name="Text 23"/>
          <p:cNvSpPr/>
          <p:nvPr/>
        </p:nvSpPr>
        <p:spPr>
          <a:xfrm>
            <a:off x="4545940" y="1691640"/>
            <a:ext cx="3154680" cy="566928"/>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Security</a:t>
            </a:r>
            <a:endParaRPr lang="en-US" sz="1600" dirty="0"/>
          </a:p>
        </p:txBody>
      </p:sp>
      <p:sp>
        <p:nvSpPr>
          <p:cNvPr id="27" name="Shape 24"/>
          <p:cNvSpPr/>
          <p:nvPr/>
        </p:nvSpPr>
        <p:spPr>
          <a:xfrm>
            <a:off x="4545940" y="2569464"/>
            <a:ext cx="310896" cy="310896"/>
          </a:xfrm>
          <a:prstGeom prst="ellipse">
            <a:avLst/>
          </a:prstGeom>
          <a:solidFill>
            <a:srgbClr val="8B5CF6">
              <a:alpha val="30000"/>
            </a:srgbClr>
          </a:solidFill>
          <a:ln w="15875">
            <a:solidFill>
              <a:srgbClr val="8B5CF6"/>
            </a:solidFill>
            <a:prstDash val="solid"/>
          </a:ln>
        </p:spPr>
      </p:sp>
      <p:sp>
        <p:nvSpPr>
          <p:cNvPr id="28" name="Text 25"/>
          <p:cNvSpPr/>
          <p:nvPr/>
        </p:nvSpPr>
        <p:spPr>
          <a:xfrm>
            <a:off x="4545940" y="2569464"/>
            <a:ext cx="310896" cy="310896"/>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a:t>
            </a:r>
            <a:endParaRPr lang="en-US" sz="800" dirty="0"/>
          </a:p>
        </p:txBody>
      </p:sp>
      <p:sp>
        <p:nvSpPr>
          <p:cNvPr id="29" name="Text 26"/>
          <p:cNvSpPr/>
          <p:nvPr/>
        </p:nvSpPr>
        <p:spPr>
          <a:xfrm>
            <a:off x="4948276" y="246888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JWT Auth</a:t>
            </a:r>
            <a:endParaRPr lang="en-US" sz="1300" dirty="0"/>
          </a:p>
        </p:txBody>
      </p:sp>
      <p:sp>
        <p:nvSpPr>
          <p:cNvPr id="30" name="Text 27"/>
          <p:cNvSpPr/>
          <p:nvPr/>
        </p:nvSpPr>
        <p:spPr>
          <a:xfrm>
            <a:off x="4948276" y="273405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Stateless bearer tokens, HS256</a:t>
            </a:r>
            <a:endParaRPr lang="en-US" sz="1000" dirty="0"/>
          </a:p>
        </p:txBody>
      </p:sp>
      <p:sp>
        <p:nvSpPr>
          <p:cNvPr id="31" name="Shape 28"/>
          <p:cNvSpPr/>
          <p:nvPr/>
        </p:nvSpPr>
        <p:spPr>
          <a:xfrm>
            <a:off x="4545940" y="3392424"/>
            <a:ext cx="310896" cy="310896"/>
          </a:xfrm>
          <a:prstGeom prst="ellipse">
            <a:avLst/>
          </a:prstGeom>
          <a:solidFill>
            <a:srgbClr val="8B5CF6">
              <a:alpha val="30000"/>
            </a:srgbClr>
          </a:solidFill>
          <a:ln w="15875">
            <a:solidFill>
              <a:srgbClr val="8B5CF6"/>
            </a:solidFill>
            <a:prstDash val="solid"/>
          </a:ln>
        </p:spPr>
      </p:sp>
      <p:sp>
        <p:nvSpPr>
          <p:cNvPr id="32" name="Text 29"/>
          <p:cNvSpPr/>
          <p:nvPr/>
        </p:nvSpPr>
        <p:spPr>
          <a:xfrm>
            <a:off x="4545940" y="3392424"/>
            <a:ext cx="310896" cy="310896"/>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a:t>
            </a:r>
            <a:endParaRPr lang="en-US" sz="800" dirty="0"/>
          </a:p>
        </p:txBody>
      </p:sp>
      <p:sp>
        <p:nvSpPr>
          <p:cNvPr id="33" name="Text 30"/>
          <p:cNvSpPr/>
          <p:nvPr/>
        </p:nvSpPr>
        <p:spPr>
          <a:xfrm>
            <a:off x="4948276" y="329184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OAuth</a:t>
            </a:r>
            <a:endParaRPr lang="en-US" sz="1300" dirty="0"/>
          </a:p>
        </p:txBody>
      </p:sp>
      <p:sp>
        <p:nvSpPr>
          <p:cNvPr id="34" name="Text 31"/>
          <p:cNvSpPr/>
          <p:nvPr/>
        </p:nvSpPr>
        <p:spPr>
          <a:xfrm>
            <a:off x="4948276" y="355701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Third-party sign-in support</a:t>
            </a:r>
            <a:endParaRPr lang="en-US" sz="1000" dirty="0"/>
          </a:p>
        </p:txBody>
      </p:sp>
      <p:sp>
        <p:nvSpPr>
          <p:cNvPr id="35" name="Shape 32"/>
          <p:cNvSpPr/>
          <p:nvPr/>
        </p:nvSpPr>
        <p:spPr>
          <a:xfrm>
            <a:off x="4545940" y="4215384"/>
            <a:ext cx="310896" cy="310896"/>
          </a:xfrm>
          <a:prstGeom prst="ellipse">
            <a:avLst/>
          </a:prstGeom>
          <a:solidFill>
            <a:srgbClr val="8B5CF6">
              <a:alpha val="30000"/>
            </a:srgbClr>
          </a:solidFill>
          <a:ln w="15875">
            <a:solidFill>
              <a:srgbClr val="8B5CF6"/>
            </a:solidFill>
            <a:prstDash val="solid"/>
          </a:ln>
        </p:spPr>
      </p:sp>
      <p:sp>
        <p:nvSpPr>
          <p:cNvPr id="36" name="Text 33"/>
          <p:cNvSpPr/>
          <p:nvPr/>
        </p:nvSpPr>
        <p:spPr>
          <a:xfrm>
            <a:off x="4545940" y="4215384"/>
            <a:ext cx="310896" cy="310896"/>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a:t>
            </a:r>
            <a:endParaRPr lang="en-US" sz="800" dirty="0"/>
          </a:p>
        </p:txBody>
      </p:sp>
      <p:sp>
        <p:nvSpPr>
          <p:cNvPr id="37" name="Text 34"/>
          <p:cNvSpPr/>
          <p:nvPr/>
        </p:nvSpPr>
        <p:spPr>
          <a:xfrm>
            <a:off x="4948276" y="411480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RBAC</a:t>
            </a:r>
            <a:endParaRPr lang="en-US" sz="1300" dirty="0"/>
          </a:p>
        </p:txBody>
      </p:sp>
      <p:sp>
        <p:nvSpPr>
          <p:cNvPr id="38" name="Text 35"/>
          <p:cNvSpPr/>
          <p:nvPr/>
        </p:nvSpPr>
        <p:spPr>
          <a:xfrm>
            <a:off x="4948276" y="437997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Researcher / Admin role scoping</a:t>
            </a:r>
            <a:endParaRPr lang="en-US" sz="1000" dirty="0"/>
          </a:p>
        </p:txBody>
      </p:sp>
      <p:sp>
        <p:nvSpPr>
          <p:cNvPr id="39" name="Shape 36"/>
          <p:cNvSpPr/>
          <p:nvPr/>
        </p:nvSpPr>
        <p:spPr>
          <a:xfrm>
            <a:off x="4545940" y="5038344"/>
            <a:ext cx="310896" cy="310896"/>
          </a:xfrm>
          <a:prstGeom prst="ellipse">
            <a:avLst/>
          </a:prstGeom>
          <a:solidFill>
            <a:srgbClr val="8B5CF6">
              <a:alpha val="30000"/>
            </a:srgbClr>
          </a:solidFill>
          <a:ln w="15875">
            <a:solidFill>
              <a:srgbClr val="8B5CF6"/>
            </a:solidFill>
            <a:prstDash val="solid"/>
          </a:ln>
        </p:spPr>
      </p:sp>
      <p:sp>
        <p:nvSpPr>
          <p:cNvPr id="40" name="Text 37"/>
          <p:cNvSpPr/>
          <p:nvPr/>
        </p:nvSpPr>
        <p:spPr>
          <a:xfrm>
            <a:off x="4545940" y="5038344"/>
            <a:ext cx="310896" cy="310896"/>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a:t>
            </a:r>
            <a:endParaRPr lang="en-US" sz="800" dirty="0"/>
          </a:p>
        </p:txBody>
      </p:sp>
      <p:sp>
        <p:nvSpPr>
          <p:cNvPr id="41" name="Text 38"/>
          <p:cNvSpPr/>
          <p:nvPr/>
        </p:nvSpPr>
        <p:spPr>
          <a:xfrm>
            <a:off x="4948276" y="493776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bcrypt + TLS</a:t>
            </a:r>
            <a:endParaRPr lang="en-US" sz="1300" dirty="0"/>
          </a:p>
        </p:txBody>
      </p:sp>
      <p:sp>
        <p:nvSpPr>
          <p:cNvPr id="42" name="Text 39"/>
          <p:cNvSpPr/>
          <p:nvPr/>
        </p:nvSpPr>
        <p:spPr>
          <a:xfrm>
            <a:off x="4948276" y="520293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Salted hashing, HTTPS enforced</a:t>
            </a:r>
            <a:endParaRPr lang="en-US" sz="1000" dirty="0"/>
          </a:p>
        </p:txBody>
      </p:sp>
      <p:sp>
        <p:nvSpPr>
          <p:cNvPr id="43" name="Shape 40"/>
          <p:cNvSpPr/>
          <p:nvPr/>
        </p:nvSpPr>
        <p:spPr>
          <a:xfrm>
            <a:off x="8121244" y="1691640"/>
            <a:ext cx="3611880" cy="4160520"/>
          </a:xfrm>
          <a:prstGeom prst="roundRect">
            <a:avLst>
              <a:gd name="adj" fmla="val 3038"/>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4" name="Shape 41"/>
          <p:cNvSpPr/>
          <p:nvPr/>
        </p:nvSpPr>
        <p:spPr>
          <a:xfrm>
            <a:off x="8121244" y="1691640"/>
            <a:ext cx="3611880" cy="566928"/>
          </a:xfrm>
          <a:prstGeom prst="roundRect">
            <a:avLst>
              <a:gd name="adj" fmla="val 19355"/>
            </a:avLst>
          </a:prstGeom>
          <a:solidFill>
            <a:srgbClr val="22D3EE">
              <a:alpha val="18000"/>
            </a:srgbClr>
          </a:solidFill>
          <a:ln/>
        </p:spPr>
      </p:sp>
      <p:sp>
        <p:nvSpPr>
          <p:cNvPr id="45" name="Text 42"/>
          <p:cNvSpPr/>
          <p:nvPr/>
        </p:nvSpPr>
        <p:spPr>
          <a:xfrm>
            <a:off x="8377276" y="1691640"/>
            <a:ext cx="3154680" cy="566928"/>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Infrastructure</a:t>
            </a:r>
            <a:endParaRPr lang="en-US" sz="1600" dirty="0"/>
          </a:p>
        </p:txBody>
      </p:sp>
      <p:sp>
        <p:nvSpPr>
          <p:cNvPr id="46" name="Shape 43"/>
          <p:cNvSpPr/>
          <p:nvPr/>
        </p:nvSpPr>
        <p:spPr>
          <a:xfrm>
            <a:off x="8377276" y="2569464"/>
            <a:ext cx="310896" cy="310896"/>
          </a:xfrm>
          <a:prstGeom prst="ellipse">
            <a:avLst/>
          </a:prstGeom>
          <a:solidFill>
            <a:srgbClr val="22D3EE">
              <a:alpha val="30000"/>
            </a:srgbClr>
          </a:solidFill>
          <a:ln w="15875">
            <a:solidFill>
              <a:srgbClr val="22D3EE"/>
            </a:solidFill>
            <a:prstDash val="solid"/>
          </a:ln>
        </p:spPr>
      </p:sp>
      <p:sp>
        <p:nvSpPr>
          <p:cNvPr id="47" name="Text 44"/>
          <p:cNvSpPr/>
          <p:nvPr/>
        </p:nvSpPr>
        <p:spPr>
          <a:xfrm>
            <a:off x="8377276" y="2569464"/>
            <a:ext cx="310896" cy="310896"/>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a:t>
            </a:r>
            <a:endParaRPr lang="en-US" sz="800" dirty="0"/>
          </a:p>
        </p:txBody>
      </p:sp>
      <p:sp>
        <p:nvSpPr>
          <p:cNvPr id="48" name="Text 45"/>
          <p:cNvSpPr/>
          <p:nvPr/>
        </p:nvSpPr>
        <p:spPr>
          <a:xfrm>
            <a:off x="8779612" y="246888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Docker</a:t>
            </a:r>
            <a:endParaRPr lang="en-US" sz="1300" dirty="0"/>
          </a:p>
        </p:txBody>
      </p:sp>
      <p:sp>
        <p:nvSpPr>
          <p:cNvPr id="49" name="Text 46"/>
          <p:cNvSpPr/>
          <p:nvPr/>
        </p:nvSpPr>
        <p:spPr>
          <a:xfrm>
            <a:off x="8779612" y="273405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Containerized services</a:t>
            </a:r>
            <a:endParaRPr lang="en-US" sz="1000" dirty="0"/>
          </a:p>
        </p:txBody>
      </p:sp>
      <p:sp>
        <p:nvSpPr>
          <p:cNvPr id="50" name="Shape 47"/>
          <p:cNvSpPr/>
          <p:nvPr/>
        </p:nvSpPr>
        <p:spPr>
          <a:xfrm>
            <a:off x="8377276" y="3392424"/>
            <a:ext cx="310896" cy="310896"/>
          </a:xfrm>
          <a:prstGeom prst="ellipse">
            <a:avLst/>
          </a:prstGeom>
          <a:solidFill>
            <a:srgbClr val="22D3EE">
              <a:alpha val="30000"/>
            </a:srgbClr>
          </a:solidFill>
          <a:ln w="15875">
            <a:solidFill>
              <a:srgbClr val="22D3EE"/>
            </a:solidFill>
            <a:prstDash val="solid"/>
          </a:ln>
        </p:spPr>
      </p:sp>
      <p:sp>
        <p:nvSpPr>
          <p:cNvPr id="51" name="Text 48"/>
          <p:cNvSpPr/>
          <p:nvPr/>
        </p:nvSpPr>
        <p:spPr>
          <a:xfrm>
            <a:off x="8377276" y="3392424"/>
            <a:ext cx="310896" cy="310896"/>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a:t>
            </a:r>
            <a:endParaRPr lang="en-US" sz="800" dirty="0"/>
          </a:p>
        </p:txBody>
      </p:sp>
      <p:sp>
        <p:nvSpPr>
          <p:cNvPr id="52" name="Text 49"/>
          <p:cNvSpPr/>
          <p:nvPr/>
        </p:nvSpPr>
        <p:spPr>
          <a:xfrm>
            <a:off x="8779612" y="329184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Docker Compose</a:t>
            </a:r>
            <a:endParaRPr lang="en-US" sz="1300" dirty="0"/>
          </a:p>
        </p:txBody>
      </p:sp>
      <p:sp>
        <p:nvSpPr>
          <p:cNvPr id="53" name="Text 50"/>
          <p:cNvSpPr/>
          <p:nvPr/>
        </p:nvSpPr>
        <p:spPr>
          <a:xfrm>
            <a:off x="8779612" y="355701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Local multi-service orchestration</a:t>
            </a:r>
            <a:endParaRPr lang="en-US" sz="1000" dirty="0"/>
          </a:p>
        </p:txBody>
      </p:sp>
      <p:sp>
        <p:nvSpPr>
          <p:cNvPr id="54" name="Shape 51"/>
          <p:cNvSpPr/>
          <p:nvPr/>
        </p:nvSpPr>
        <p:spPr>
          <a:xfrm>
            <a:off x="8377276" y="4215384"/>
            <a:ext cx="310896" cy="310896"/>
          </a:xfrm>
          <a:prstGeom prst="ellipse">
            <a:avLst/>
          </a:prstGeom>
          <a:solidFill>
            <a:srgbClr val="22D3EE">
              <a:alpha val="30000"/>
            </a:srgbClr>
          </a:solidFill>
          <a:ln w="15875">
            <a:solidFill>
              <a:srgbClr val="22D3EE"/>
            </a:solidFill>
            <a:prstDash val="solid"/>
          </a:ln>
        </p:spPr>
      </p:sp>
      <p:sp>
        <p:nvSpPr>
          <p:cNvPr id="55" name="Text 52"/>
          <p:cNvSpPr/>
          <p:nvPr/>
        </p:nvSpPr>
        <p:spPr>
          <a:xfrm>
            <a:off x="8377276" y="4215384"/>
            <a:ext cx="310896" cy="310896"/>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a:t>
            </a:r>
            <a:endParaRPr lang="en-US" sz="800" dirty="0"/>
          </a:p>
        </p:txBody>
      </p:sp>
      <p:sp>
        <p:nvSpPr>
          <p:cNvPr id="56" name="Text 53"/>
          <p:cNvSpPr/>
          <p:nvPr/>
        </p:nvSpPr>
        <p:spPr>
          <a:xfrm>
            <a:off x="8779612" y="411480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CI / CD</a:t>
            </a:r>
            <a:endParaRPr lang="en-US" sz="1300" dirty="0"/>
          </a:p>
        </p:txBody>
      </p:sp>
      <p:sp>
        <p:nvSpPr>
          <p:cNvPr id="57" name="Text 54"/>
          <p:cNvSpPr/>
          <p:nvPr/>
        </p:nvSpPr>
        <p:spPr>
          <a:xfrm>
            <a:off x="8779612" y="437997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Automated build, test, deploy</a:t>
            </a:r>
            <a:endParaRPr lang="en-US" sz="1000" dirty="0"/>
          </a:p>
        </p:txBody>
      </p:sp>
      <p:sp>
        <p:nvSpPr>
          <p:cNvPr id="58" name="Shape 55"/>
          <p:cNvSpPr/>
          <p:nvPr/>
        </p:nvSpPr>
        <p:spPr>
          <a:xfrm>
            <a:off x="8377276" y="5038344"/>
            <a:ext cx="310896" cy="310896"/>
          </a:xfrm>
          <a:prstGeom prst="ellipse">
            <a:avLst/>
          </a:prstGeom>
          <a:solidFill>
            <a:srgbClr val="22D3EE">
              <a:alpha val="30000"/>
            </a:srgbClr>
          </a:solidFill>
          <a:ln w="15875">
            <a:solidFill>
              <a:srgbClr val="22D3EE"/>
            </a:solidFill>
            <a:prstDash val="solid"/>
          </a:ln>
        </p:spPr>
      </p:sp>
      <p:sp>
        <p:nvSpPr>
          <p:cNvPr id="59" name="Text 56"/>
          <p:cNvSpPr/>
          <p:nvPr/>
        </p:nvSpPr>
        <p:spPr>
          <a:xfrm>
            <a:off x="8377276" y="5038344"/>
            <a:ext cx="310896" cy="310896"/>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a:t>
            </a:r>
            <a:endParaRPr lang="en-US" sz="800" dirty="0"/>
          </a:p>
        </p:txBody>
      </p:sp>
      <p:sp>
        <p:nvSpPr>
          <p:cNvPr id="60" name="Text 57"/>
          <p:cNvSpPr/>
          <p:nvPr/>
        </p:nvSpPr>
        <p:spPr>
          <a:xfrm>
            <a:off x="8779612" y="4937760"/>
            <a:ext cx="2697480" cy="274320"/>
          </a:xfrm>
          <a:prstGeom prst="rect">
            <a:avLst/>
          </a:prstGeom>
          <a:noFill/>
          <a:ln/>
        </p:spPr>
        <p:txBody>
          <a:bodyPr wrap="square" lIns="0" tIns="0" rIns="0" bIns="0" rtlCol="0" anchor="ctr"/>
          <a:lstStyle/>
          <a:p>
            <a:pPr indent="0" marL="0">
              <a:buNone/>
            </a:pPr>
            <a:r>
              <a:rPr lang="en-US" sz="1300" b="1" dirty="0">
                <a:solidFill>
                  <a:srgbClr val="F5F5F7"/>
                </a:solidFill>
                <a:latin typeface="Calibri" pitchFamily="34" charset="0"/>
                <a:ea typeface="Calibri" pitchFamily="34" charset="-122"/>
                <a:cs typeface="Calibri" pitchFamily="34" charset="-120"/>
              </a:rPr>
              <a:t>Monitoring</a:t>
            </a:r>
            <a:endParaRPr lang="en-US" sz="1300" dirty="0"/>
          </a:p>
        </p:txBody>
      </p:sp>
      <p:sp>
        <p:nvSpPr>
          <p:cNvPr id="61" name="Text 58"/>
          <p:cNvSpPr/>
          <p:nvPr/>
        </p:nvSpPr>
        <p:spPr>
          <a:xfrm>
            <a:off x="8779612" y="5202936"/>
            <a:ext cx="2697480" cy="384048"/>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Prometheus + Grafana + logging</a:t>
            </a:r>
            <a:endParaRPr lang="en-US" sz="1000" dirty="0"/>
          </a:p>
        </p:txBody>
      </p:sp>
      <p:sp>
        <p:nvSpPr>
          <p:cNvPr id="62" name="Text 59"/>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 / 10</a:t>
            </a:r>
            <a:endParaRPr lang="en-US" sz="1000" dirty="0"/>
          </a:p>
        </p:txBody>
      </p:sp>
      <p:sp>
        <p:nvSpPr>
          <p:cNvPr id="63" name="Text 60"/>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BUILT WITH</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A modern, open-weight technology stack</a:t>
            </a:r>
            <a:endParaRPr lang="en-US" sz="3400" dirty="0"/>
          </a:p>
        </p:txBody>
      </p:sp>
      <p:sp>
        <p:nvSpPr>
          <p:cNvPr id="5" name="Shape 2"/>
          <p:cNvSpPr/>
          <p:nvPr/>
        </p:nvSpPr>
        <p:spPr>
          <a:xfrm>
            <a:off x="545440" y="1691640"/>
            <a:ext cx="2084832" cy="4160520"/>
          </a:xfrm>
          <a:prstGeom prst="roundRect">
            <a:avLst>
              <a:gd name="adj" fmla="val 5263"/>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 name="Shape 3"/>
          <p:cNvSpPr/>
          <p:nvPr/>
        </p:nvSpPr>
        <p:spPr>
          <a:xfrm>
            <a:off x="1359256" y="1965960"/>
            <a:ext cx="457200" cy="457200"/>
          </a:xfrm>
          <a:prstGeom prst="ellipse">
            <a:avLst/>
          </a:prstGeom>
          <a:solidFill>
            <a:srgbClr val="3B82F6">
              <a:alpha val="28000"/>
            </a:srgbClr>
          </a:solidFill>
          <a:ln w="15875">
            <a:solidFill>
              <a:srgbClr val="3B82F6"/>
            </a:solidFill>
            <a:prstDash val="solid"/>
          </a:ln>
        </p:spPr>
      </p:sp>
      <p:sp>
        <p:nvSpPr>
          <p:cNvPr id="7" name="Text 4"/>
          <p:cNvSpPr/>
          <p:nvPr/>
        </p:nvSpPr>
        <p:spPr>
          <a:xfrm>
            <a:off x="1359256" y="1965960"/>
            <a:ext cx="457200" cy="457200"/>
          </a:xfrm>
          <a:prstGeom prst="rect">
            <a:avLst/>
          </a:prstGeom>
          <a:noFill/>
          <a:ln/>
        </p:spPr>
        <p:txBody>
          <a:bodyPr wrap="square" lIns="0" tIns="0" rIns="0" bIns="0" rtlCol="0" anchor="ctr"/>
          <a:lstStyle/>
          <a:p>
            <a:pPr algn="ct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8" name="Text 5"/>
          <p:cNvSpPr/>
          <p:nvPr/>
        </p:nvSpPr>
        <p:spPr>
          <a:xfrm>
            <a:off x="655168" y="2587752"/>
            <a:ext cx="1865376" cy="457200"/>
          </a:xfrm>
          <a:prstGeom prst="rect">
            <a:avLst/>
          </a:prstGeom>
          <a:noFill/>
          <a:ln/>
        </p:spPr>
        <p:txBody>
          <a:bodyPr wrap="square" lIns="0" tIns="0" rIns="0" bIns="0" rtlCol="0" anchor="ctr"/>
          <a:lstStyle/>
          <a:p>
            <a:pPr algn="ctr" indent="0" marL="0">
              <a:lnSpc>
                <a:spcPts val="1500"/>
              </a:lnSpc>
              <a:buNone/>
            </a:pPr>
            <a:r>
              <a:rPr lang="en-US" sz="1350" b="1" dirty="0">
                <a:solidFill>
                  <a:srgbClr val="F5F5F7"/>
                </a:solidFill>
                <a:latin typeface="Calibri" pitchFamily="34" charset="0"/>
                <a:ea typeface="Calibri" pitchFamily="34" charset="-122"/>
                <a:cs typeface="Calibri" pitchFamily="34" charset="-120"/>
              </a:rPr>
              <a:t>Frontend</a:t>
            </a:r>
            <a:endParaRPr lang="en-US" sz="1350" dirty="0"/>
          </a:p>
        </p:txBody>
      </p:sp>
      <p:sp>
        <p:nvSpPr>
          <p:cNvPr id="9" name="Shape 6"/>
          <p:cNvSpPr/>
          <p:nvPr/>
        </p:nvSpPr>
        <p:spPr>
          <a:xfrm>
            <a:off x="865480" y="3063240"/>
            <a:ext cx="1444752" cy="0"/>
          </a:xfrm>
          <a:prstGeom prst="line">
            <a:avLst/>
          </a:prstGeom>
          <a:noFill/>
          <a:ln w="12700">
            <a:solidFill>
              <a:srgbClr val="27272E"/>
            </a:solidFill>
            <a:prstDash val="solid"/>
          </a:ln>
        </p:spPr>
      </p:sp>
      <p:sp>
        <p:nvSpPr>
          <p:cNvPr id="10" name="Text 7"/>
          <p:cNvSpPr/>
          <p:nvPr/>
        </p:nvSpPr>
        <p:spPr>
          <a:xfrm>
            <a:off x="682600" y="3227832"/>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Next.js 14</a:t>
            </a:r>
            <a:endParaRPr lang="en-US" sz="1100" dirty="0"/>
          </a:p>
        </p:txBody>
      </p:sp>
      <p:sp>
        <p:nvSpPr>
          <p:cNvPr id="11" name="Text 8"/>
          <p:cNvSpPr/>
          <p:nvPr/>
        </p:nvSpPr>
        <p:spPr>
          <a:xfrm>
            <a:off x="682600" y="3849624"/>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React 18</a:t>
            </a:r>
            <a:endParaRPr lang="en-US" sz="1100" dirty="0"/>
          </a:p>
        </p:txBody>
      </p:sp>
      <p:sp>
        <p:nvSpPr>
          <p:cNvPr id="12" name="Text 9"/>
          <p:cNvSpPr/>
          <p:nvPr/>
        </p:nvSpPr>
        <p:spPr>
          <a:xfrm>
            <a:off x="682600" y="4471416"/>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TypeScript 5</a:t>
            </a:r>
            <a:endParaRPr lang="en-US" sz="1100" dirty="0"/>
          </a:p>
        </p:txBody>
      </p:sp>
      <p:sp>
        <p:nvSpPr>
          <p:cNvPr id="13" name="Text 10"/>
          <p:cNvSpPr/>
          <p:nvPr/>
        </p:nvSpPr>
        <p:spPr>
          <a:xfrm>
            <a:off x="682600" y="5093208"/>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Tailwind CSS</a:t>
            </a:r>
            <a:endParaRPr lang="en-US" sz="1100" dirty="0"/>
          </a:p>
        </p:txBody>
      </p:sp>
      <p:sp>
        <p:nvSpPr>
          <p:cNvPr id="14" name="Shape 11"/>
          <p:cNvSpPr/>
          <p:nvPr/>
        </p:nvSpPr>
        <p:spPr>
          <a:xfrm>
            <a:off x="2799436" y="1691640"/>
            <a:ext cx="2084832" cy="4160520"/>
          </a:xfrm>
          <a:prstGeom prst="roundRect">
            <a:avLst>
              <a:gd name="adj" fmla="val 5263"/>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5" name="Shape 12"/>
          <p:cNvSpPr/>
          <p:nvPr/>
        </p:nvSpPr>
        <p:spPr>
          <a:xfrm>
            <a:off x="3613252" y="1965960"/>
            <a:ext cx="457200" cy="457200"/>
          </a:xfrm>
          <a:prstGeom prst="ellipse">
            <a:avLst/>
          </a:prstGeom>
          <a:solidFill>
            <a:srgbClr val="22D3EE">
              <a:alpha val="28000"/>
            </a:srgbClr>
          </a:solidFill>
          <a:ln w="15875">
            <a:solidFill>
              <a:srgbClr val="22D3EE"/>
            </a:solidFill>
            <a:prstDash val="solid"/>
          </a:ln>
        </p:spPr>
      </p:sp>
      <p:sp>
        <p:nvSpPr>
          <p:cNvPr id="16" name="Text 13"/>
          <p:cNvSpPr/>
          <p:nvPr/>
        </p:nvSpPr>
        <p:spPr>
          <a:xfrm>
            <a:off x="3613252" y="1965960"/>
            <a:ext cx="457200" cy="457200"/>
          </a:xfrm>
          <a:prstGeom prst="rect">
            <a:avLst/>
          </a:prstGeom>
          <a:noFill/>
          <a:ln/>
        </p:spPr>
        <p:txBody>
          <a:bodyPr wrap="square" lIns="0" tIns="0" rIns="0" bIns="0" rtlCol="0" anchor="ctr"/>
          <a:lstStyle/>
          <a:p>
            <a:pPr algn="ctr" indent="0" marL="0">
              <a:buNone/>
            </a:pPr>
            <a:r>
              <a:rPr lang="en-US" sz="1600" b="1" dirty="0">
                <a:solidFill>
                  <a:srgbClr val="22D3EE"/>
                </a:solidFill>
                <a:latin typeface="Arial" pitchFamily="34" charset="0"/>
                <a:ea typeface="Arial" pitchFamily="34" charset="-122"/>
                <a:cs typeface="Arial" pitchFamily="34" charset="-120"/>
              </a:rPr>
              <a:t>⚙</a:t>
            </a:r>
            <a:endParaRPr lang="en-US" sz="1600" dirty="0"/>
          </a:p>
        </p:txBody>
      </p:sp>
      <p:sp>
        <p:nvSpPr>
          <p:cNvPr id="17" name="Text 14"/>
          <p:cNvSpPr/>
          <p:nvPr/>
        </p:nvSpPr>
        <p:spPr>
          <a:xfrm>
            <a:off x="2909164" y="2587752"/>
            <a:ext cx="1865376" cy="457200"/>
          </a:xfrm>
          <a:prstGeom prst="rect">
            <a:avLst/>
          </a:prstGeom>
          <a:noFill/>
          <a:ln/>
        </p:spPr>
        <p:txBody>
          <a:bodyPr wrap="square" lIns="0" tIns="0" rIns="0" bIns="0" rtlCol="0" anchor="ctr"/>
          <a:lstStyle/>
          <a:p>
            <a:pPr algn="ctr" indent="0" marL="0">
              <a:lnSpc>
                <a:spcPts val="1500"/>
              </a:lnSpc>
              <a:buNone/>
            </a:pPr>
            <a:r>
              <a:rPr lang="en-US" sz="1350" b="1" dirty="0">
                <a:solidFill>
                  <a:srgbClr val="F5F5F7"/>
                </a:solidFill>
                <a:latin typeface="Calibri" pitchFamily="34" charset="0"/>
                <a:ea typeface="Calibri" pitchFamily="34" charset="-122"/>
                <a:cs typeface="Calibri" pitchFamily="34" charset="-120"/>
              </a:rPr>
              <a:t>Backend</a:t>
            </a:r>
            <a:endParaRPr lang="en-US" sz="1350" dirty="0"/>
          </a:p>
        </p:txBody>
      </p:sp>
      <p:sp>
        <p:nvSpPr>
          <p:cNvPr id="18" name="Shape 15"/>
          <p:cNvSpPr/>
          <p:nvPr/>
        </p:nvSpPr>
        <p:spPr>
          <a:xfrm>
            <a:off x="3119476" y="3063240"/>
            <a:ext cx="1444752" cy="0"/>
          </a:xfrm>
          <a:prstGeom prst="line">
            <a:avLst/>
          </a:prstGeom>
          <a:noFill/>
          <a:ln w="12700">
            <a:solidFill>
              <a:srgbClr val="27272E"/>
            </a:solidFill>
            <a:prstDash val="solid"/>
          </a:ln>
        </p:spPr>
      </p:sp>
      <p:sp>
        <p:nvSpPr>
          <p:cNvPr id="19" name="Text 16"/>
          <p:cNvSpPr/>
          <p:nvPr/>
        </p:nvSpPr>
        <p:spPr>
          <a:xfrm>
            <a:off x="2936596" y="3227832"/>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FastAPI</a:t>
            </a:r>
            <a:endParaRPr lang="en-US" sz="1100" dirty="0"/>
          </a:p>
        </p:txBody>
      </p:sp>
      <p:sp>
        <p:nvSpPr>
          <p:cNvPr id="20" name="Text 17"/>
          <p:cNvSpPr/>
          <p:nvPr/>
        </p:nvSpPr>
        <p:spPr>
          <a:xfrm>
            <a:off x="2936596" y="3849624"/>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Python 3.11</a:t>
            </a:r>
            <a:endParaRPr lang="en-US" sz="1100" dirty="0"/>
          </a:p>
        </p:txBody>
      </p:sp>
      <p:sp>
        <p:nvSpPr>
          <p:cNvPr id="21" name="Text 18"/>
          <p:cNvSpPr/>
          <p:nvPr/>
        </p:nvSpPr>
        <p:spPr>
          <a:xfrm>
            <a:off x="2936596" y="4471416"/>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Pydantic v2</a:t>
            </a:r>
            <a:endParaRPr lang="en-US" sz="1100" dirty="0"/>
          </a:p>
        </p:txBody>
      </p:sp>
      <p:sp>
        <p:nvSpPr>
          <p:cNvPr id="22" name="Text 19"/>
          <p:cNvSpPr/>
          <p:nvPr/>
        </p:nvSpPr>
        <p:spPr>
          <a:xfrm>
            <a:off x="2936596" y="5093208"/>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Uvicorn</a:t>
            </a:r>
            <a:endParaRPr lang="en-US" sz="1100" dirty="0"/>
          </a:p>
        </p:txBody>
      </p:sp>
      <p:sp>
        <p:nvSpPr>
          <p:cNvPr id="23" name="Shape 20"/>
          <p:cNvSpPr/>
          <p:nvPr/>
        </p:nvSpPr>
        <p:spPr>
          <a:xfrm>
            <a:off x="5053432" y="1691640"/>
            <a:ext cx="2084832" cy="4160520"/>
          </a:xfrm>
          <a:prstGeom prst="roundRect">
            <a:avLst>
              <a:gd name="adj" fmla="val 5263"/>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4" name="Shape 21"/>
          <p:cNvSpPr/>
          <p:nvPr/>
        </p:nvSpPr>
        <p:spPr>
          <a:xfrm>
            <a:off x="5867248" y="1965960"/>
            <a:ext cx="457200" cy="457200"/>
          </a:xfrm>
          <a:prstGeom prst="ellipse">
            <a:avLst/>
          </a:prstGeom>
          <a:solidFill>
            <a:srgbClr val="8B5CF6">
              <a:alpha val="28000"/>
            </a:srgbClr>
          </a:solidFill>
          <a:ln w="15875">
            <a:solidFill>
              <a:srgbClr val="8B5CF6"/>
            </a:solidFill>
            <a:prstDash val="solid"/>
          </a:ln>
        </p:spPr>
      </p:sp>
      <p:sp>
        <p:nvSpPr>
          <p:cNvPr id="25" name="Text 22"/>
          <p:cNvSpPr/>
          <p:nvPr/>
        </p:nvSpPr>
        <p:spPr>
          <a:xfrm>
            <a:off x="5867248" y="1965960"/>
            <a:ext cx="457200" cy="457200"/>
          </a:xfrm>
          <a:prstGeom prst="rect">
            <a:avLst/>
          </a:prstGeom>
          <a:noFill/>
          <a:ln/>
        </p:spPr>
        <p:txBody>
          <a:bodyPr wrap="square" lIns="0" tIns="0" rIns="0" bIns="0" rtlCol="0" anchor="ctr"/>
          <a:lstStyle/>
          <a:p>
            <a:pPr algn="ctr" indent="0" marL="0">
              <a:buNone/>
            </a:pPr>
            <a:r>
              <a:rPr lang="en-US" sz="1600" b="1" dirty="0">
                <a:solidFill>
                  <a:srgbClr val="8B5CF6"/>
                </a:solidFill>
                <a:latin typeface="Arial" pitchFamily="34" charset="0"/>
                <a:ea typeface="Arial" pitchFamily="34" charset="-122"/>
                <a:cs typeface="Arial" pitchFamily="34" charset="-120"/>
              </a:rPr>
              <a:t>◈</a:t>
            </a:r>
            <a:endParaRPr lang="en-US" sz="1600" dirty="0"/>
          </a:p>
        </p:txBody>
      </p:sp>
      <p:sp>
        <p:nvSpPr>
          <p:cNvPr id="26" name="Text 23"/>
          <p:cNvSpPr/>
          <p:nvPr/>
        </p:nvSpPr>
        <p:spPr>
          <a:xfrm>
            <a:off x="5163160" y="2587752"/>
            <a:ext cx="1865376" cy="457200"/>
          </a:xfrm>
          <a:prstGeom prst="rect">
            <a:avLst/>
          </a:prstGeom>
          <a:noFill/>
          <a:ln/>
        </p:spPr>
        <p:txBody>
          <a:bodyPr wrap="square" lIns="0" tIns="0" rIns="0" bIns="0" rtlCol="0" anchor="ctr"/>
          <a:lstStyle/>
          <a:p>
            <a:pPr algn="ctr" indent="0" marL="0">
              <a:lnSpc>
                <a:spcPts val="1500"/>
              </a:lnSpc>
              <a:buNone/>
            </a:pPr>
            <a:r>
              <a:rPr lang="en-US" sz="1350" b="1" dirty="0">
                <a:solidFill>
                  <a:srgbClr val="F5F5F7"/>
                </a:solidFill>
                <a:latin typeface="Calibri" pitchFamily="34" charset="0"/>
                <a:ea typeface="Calibri" pitchFamily="34" charset="-122"/>
                <a:cs typeface="Calibri" pitchFamily="34" charset="-120"/>
              </a:rPr>
              <a:t>AI Framework</a:t>
            </a:r>
            <a:endParaRPr lang="en-US" sz="1350" dirty="0"/>
          </a:p>
        </p:txBody>
      </p:sp>
      <p:sp>
        <p:nvSpPr>
          <p:cNvPr id="27" name="Shape 24"/>
          <p:cNvSpPr/>
          <p:nvPr/>
        </p:nvSpPr>
        <p:spPr>
          <a:xfrm>
            <a:off x="5373472" y="3063240"/>
            <a:ext cx="1444752" cy="0"/>
          </a:xfrm>
          <a:prstGeom prst="line">
            <a:avLst/>
          </a:prstGeom>
          <a:noFill/>
          <a:ln w="12700">
            <a:solidFill>
              <a:srgbClr val="27272E"/>
            </a:solidFill>
            <a:prstDash val="solid"/>
          </a:ln>
        </p:spPr>
      </p:sp>
      <p:sp>
        <p:nvSpPr>
          <p:cNvPr id="28" name="Text 25"/>
          <p:cNvSpPr/>
          <p:nvPr/>
        </p:nvSpPr>
        <p:spPr>
          <a:xfrm>
            <a:off x="5190592" y="3227832"/>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LangGraph</a:t>
            </a:r>
            <a:endParaRPr lang="en-US" sz="1100" dirty="0"/>
          </a:p>
        </p:txBody>
      </p:sp>
      <p:sp>
        <p:nvSpPr>
          <p:cNvPr id="29" name="Text 26"/>
          <p:cNvSpPr/>
          <p:nvPr/>
        </p:nvSpPr>
        <p:spPr>
          <a:xfrm>
            <a:off x="5190592" y="3849624"/>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OpenRouter</a:t>
            </a:r>
            <a:endParaRPr lang="en-US" sz="1100" dirty="0"/>
          </a:p>
        </p:txBody>
      </p:sp>
      <p:sp>
        <p:nvSpPr>
          <p:cNvPr id="30" name="Text 27"/>
          <p:cNvSpPr/>
          <p:nvPr/>
        </p:nvSpPr>
        <p:spPr>
          <a:xfrm>
            <a:off x="5190592" y="4471416"/>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Kimi K3</a:t>
            </a:r>
            <a:endParaRPr lang="en-US" sz="1100" dirty="0"/>
          </a:p>
        </p:txBody>
      </p:sp>
      <p:sp>
        <p:nvSpPr>
          <p:cNvPr id="31" name="Text 28"/>
          <p:cNvSpPr/>
          <p:nvPr/>
        </p:nvSpPr>
        <p:spPr>
          <a:xfrm>
            <a:off x="5190592" y="5093208"/>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Qwen3 · DeepSeek-V3</a:t>
            </a:r>
            <a:endParaRPr lang="en-US" sz="1100" dirty="0"/>
          </a:p>
        </p:txBody>
      </p:sp>
      <p:sp>
        <p:nvSpPr>
          <p:cNvPr id="32" name="Shape 29"/>
          <p:cNvSpPr/>
          <p:nvPr/>
        </p:nvSpPr>
        <p:spPr>
          <a:xfrm>
            <a:off x="7307428" y="1691640"/>
            <a:ext cx="2084832" cy="4160520"/>
          </a:xfrm>
          <a:prstGeom prst="roundRect">
            <a:avLst>
              <a:gd name="adj" fmla="val 5263"/>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3" name="Shape 30"/>
          <p:cNvSpPr/>
          <p:nvPr/>
        </p:nvSpPr>
        <p:spPr>
          <a:xfrm>
            <a:off x="8121244" y="1965960"/>
            <a:ext cx="457200" cy="457200"/>
          </a:xfrm>
          <a:prstGeom prst="ellipse">
            <a:avLst/>
          </a:prstGeom>
          <a:solidFill>
            <a:srgbClr val="F59E0B">
              <a:alpha val="28000"/>
            </a:srgbClr>
          </a:solidFill>
          <a:ln w="15875">
            <a:solidFill>
              <a:srgbClr val="F59E0B"/>
            </a:solidFill>
            <a:prstDash val="solid"/>
          </a:ln>
        </p:spPr>
      </p:sp>
      <p:sp>
        <p:nvSpPr>
          <p:cNvPr id="34" name="Text 31"/>
          <p:cNvSpPr/>
          <p:nvPr/>
        </p:nvSpPr>
        <p:spPr>
          <a:xfrm>
            <a:off x="8121244" y="1965960"/>
            <a:ext cx="457200" cy="457200"/>
          </a:xfrm>
          <a:prstGeom prst="rect">
            <a:avLst/>
          </a:prstGeom>
          <a:noFill/>
          <a:ln/>
        </p:spPr>
        <p:txBody>
          <a:bodyPr wrap="square" lIns="0" tIns="0" rIns="0" bIns="0" rtlCol="0" anchor="ctr"/>
          <a:lstStyle/>
          <a:p>
            <a:pPr algn="ctr" indent="0" marL="0">
              <a:buNone/>
            </a:pPr>
            <a:r>
              <a:rPr lang="en-US" sz="1600" b="1" dirty="0">
                <a:solidFill>
                  <a:srgbClr val="F59E0B"/>
                </a:solidFill>
                <a:latin typeface="Arial" pitchFamily="34" charset="0"/>
                <a:ea typeface="Arial" pitchFamily="34" charset="-122"/>
                <a:cs typeface="Arial" pitchFamily="34" charset="-120"/>
              </a:rPr>
              <a:t>◉</a:t>
            </a:r>
            <a:endParaRPr lang="en-US" sz="1600" dirty="0"/>
          </a:p>
        </p:txBody>
      </p:sp>
      <p:sp>
        <p:nvSpPr>
          <p:cNvPr id="35" name="Text 32"/>
          <p:cNvSpPr/>
          <p:nvPr/>
        </p:nvSpPr>
        <p:spPr>
          <a:xfrm>
            <a:off x="7417156" y="2587752"/>
            <a:ext cx="1865376" cy="457200"/>
          </a:xfrm>
          <a:prstGeom prst="rect">
            <a:avLst/>
          </a:prstGeom>
          <a:noFill/>
          <a:ln/>
        </p:spPr>
        <p:txBody>
          <a:bodyPr wrap="square" lIns="0" tIns="0" rIns="0" bIns="0" rtlCol="0" anchor="ctr"/>
          <a:lstStyle/>
          <a:p>
            <a:pPr algn="ctr" indent="0" marL="0">
              <a:lnSpc>
                <a:spcPts val="1500"/>
              </a:lnSpc>
              <a:buNone/>
            </a:pPr>
            <a:r>
              <a:rPr lang="en-US" sz="1350" b="1" dirty="0">
                <a:solidFill>
                  <a:srgbClr val="F5F5F7"/>
                </a:solidFill>
                <a:latin typeface="Calibri" pitchFamily="34" charset="0"/>
                <a:ea typeface="Calibri" pitchFamily="34" charset="-122"/>
                <a:cs typeface="Calibri" pitchFamily="34" charset="-120"/>
              </a:rPr>
              <a:t>Databases</a:t>
            </a:r>
            <a:endParaRPr lang="en-US" sz="1350" dirty="0"/>
          </a:p>
        </p:txBody>
      </p:sp>
      <p:sp>
        <p:nvSpPr>
          <p:cNvPr id="36" name="Shape 33"/>
          <p:cNvSpPr/>
          <p:nvPr/>
        </p:nvSpPr>
        <p:spPr>
          <a:xfrm>
            <a:off x="7627468" y="3063240"/>
            <a:ext cx="1444752" cy="0"/>
          </a:xfrm>
          <a:prstGeom prst="line">
            <a:avLst/>
          </a:prstGeom>
          <a:noFill/>
          <a:ln w="12700">
            <a:solidFill>
              <a:srgbClr val="27272E"/>
            </a:solidFill>
            <a:prstDash val="solid"/>
          </a:ln>
        </p:spPr>
      </p:sp>
      <p:sp>
        <p:nvSpPr>
          <p:cNvPr id="37" name="Text 34"/>
          <p:cNvSpPr/>
          <p:nvPr/>
        </p:nvSpPr>
        <p:spPr>
          <a:xfrm>
            <a:off x="7444588" y="3227832"/>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PostgreSQL</a:t>
            </a:r>
            <a:endParaRPr lang="en-US" sz="1100" dirty="0"/>
          </a:p>
        </p:txBody>
      </p:sp>
      <p:sp>
        <p:nvSpPr>
          <p:cNvPr id="38" name="Text 35"/>
          <p:cNvSpPr/>
          <p:nvPr/>
        </p:nvSpPr>
        <p:spPr>
          <a:xfrm>
            <a:off x="7444588" y="3849624"/>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Qdrant</a:t>
            </a:r>
            <a:endParaRPr lang="en-US" sz="1100" dirty="0"/>
          </a:p>
        </p:txBody>
      </p:sp>
      <p:sp>
        <p:nvSpPr>
          <p:cNvPr id="39" name="Text 36"/>
          <p:cNvSpPr/>
          <p:nvPr/>
        </p:nvSpPr>
        <p:spPr>
          <a:xfrm>
            <a:off x="7444588" y="4471416"/>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Neo4j</a:t>
            </a:r>
            <a:endParaRPr lang="en-US" sz="1100" dirty="0"/>
          </a:p>
        </p:txBody>
      </p:sp>
      <p:sp>
        <p:nvSpPr>
          <p:cNvPr id="40" name="Text 37"/>
          <p:cNvSpPr/>
          <p:nvPr/>
        </p:nvSpPr>
        <p:spPr>
          <a:xfrm>
            <a:off x="7444588" y="5093208"/>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Redis</a:t>
            </a:r>
            <a:endParaRPr lang="en-US" sz="1100" dirty="0"/>
          </a:p>
        </p:txBody>
      </p:sp>
      <p:sp>
        <p:nvSpPr>
          <p:cNvPr id="41" name="Shape 38"/>
          <p:cNvSpPr/>
          <p:nvPr/>
        </p:nvSpPr>
        <p:spPr>
          <a:xfrm>
            <a:off x="9561424" y="1691640"/>
            <a:ext cx="2084832" cy="4160520"/>
          </a:xfrm>
          <a:prstGeom prst="roundRect">
            <a:avLst>
              <a:gd name="adj" fmla="val 5263"/>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2" name="Shape 39"/>
          <p:cNvSpPr/>
          <p:nvPr/>
        </p:nvSpPr>
        <p:spPr>
          <a:xfrm>
            <a:off x="10375240" y="1965960"/>
            <a:ext cx="457200" cy="457200"/>
          </a:xfrm>
          <a:prstGeom prst="ellipse">
            <a:avLst/>
          </a:prstGeom>
          <a:solidFill>
            <a:srgbClr val="34D399">
              <a:alpha val="28000"/>
            </a:srgbClr>
          </a:solidFill>
          <a:ln w="15875">
            <a:solidFill>
              <a:srgbClr val="34D399"/>
            </a:solidFill>
            <a:prstDash val="solid"/>
          </a:ln>
        </p:spPr>
      </p:sp>
      <p:sp>
        <p:nvSpPr>
          <p:cNvPr id="43" name="Text 40"/>
          <p:cNvSpPr/>
          <p:nvPr/>
        </p:nvSpPr>
        <p:spPr>
          <a:xfrm>
            <a:off x="10375240" y="1965960"/>
            <a:ext cx="457200" cy="457200"/>
          </a:xfrm>
          <a:prstGeom prst="rect">
            <a:avLst/>
          </a:prstGeom>
          <a:noFill/>
          <a:ln/>
        </p:spPr>
        <p:txBody>
          <a:bodyPr wrap="square" lIns="0" tIns="0" rIns="0" bIns="0" rtlCol="0" anchor="ctr"/>
          <a:lstStyle/>
          <a:p>
            <a:pPr algn="ctr" indent="0" marL="0">
              <a:buNone/>
            </a:pPr>
            <a:r>
              <a:rPr lang="en-US" sz="1600" b="1" dirty="0">
                <a:solidFill>
                  <a:srgbClr val="34D399"/>
                </a:solidFill>
                <a:latin typeface="Arial" pitchFamily="34" charset="0"/>
                <a:ea typeface="Arial" pitchFamily="34" charset="-122"/>
                <a:cs typeface="Arial" pitchFamily="34" charset="-120"/>
              </a:rPr>
              <a:t>△</a:t>
            </a:r>
            <a:endParaRPr lang="en-US" sz="1600" dirty="0"/>
          </a:p>
        </p:txBody>
      </p:sp>
      <p:sp>
        <p:nvSpPr>
          <p:cNvPr id="44" name="Text 41"/>
          <p:cNvSpPr/>
          <p:nvPr/>
        </p:nvSpPr>
        <p:spPr>
          <a:xfrm>
            <a:off x="9671152" y="2587752"/>
            <a:ext cx="1865376" cy="457200"/>
          </a:xfrm>
          <a:prstGeom prst="rect">
            <a:avLst/>
          </a:prstGeom>
          <a:noFill/>
          <a:ln/>
        </p:spPr>
        <p:txBody>
          <a:bodyPr wrap="square" lIns="0" tIns="0" rIns="0" bIns="0" rtlCol="0" anchor="ctr"/>
          <a:lstStyle/>
          <a:p>
            <a:pPr algn="ctr" indent="0" marL="0">
              <a:lnSpc>
                <a:spcPts val="1500"/>
              </a:lnSpc>
              <a:buNone/>
            </a:pPr>
            <a:r>
              <a:rPr lang="en-US" sz="1350" b="1" dirty="0">
                <a:solidFill>
                  <a:srgbClr val="F5F5F7"/>
                </a:solidFill>
                <a:latin typeface="Calibri" pitchFamily="34" charset="0"/>
                <a:ea typeface="Calibri" pitchFamily="34" charset="-122"/>
                <a:cs typeface="Calibri" pitchFamily="34" charset="-120"/>
              </a:rPr>
              <a:t>DevOps &amp; Cloud</a:t>
            </a:r>
            <a:endParaRPr lang="en-US" sz="1350" dirty="0"/>
          </a:p>
        </p:txBody>
      </p:sp>
      <p:sp>
        <p:nvSpPr>
          <p:cNvPr id="45" name="Shape 42"/>
          <p:cNvSpPr/>
          <p:nvPr/>
        </p:nvSpPr>
        <p:spPr>
          <a:xfrm>
            <a:off x="9881464" y="3063240"/>
            <a:ext cx="1444752" cy="0"/>
          </a:xfrm>
          <a:prstGeom prst="line">
            <a:avLst/>
          </a:prstGeom>
          <a:noFill/>
          <a:ln w="12700">
            <a:solidFill>
              <a:srgbClr val="27272E"/>
            </a:solidFill>
            <a:prstDash val="solid"/>
          </a:ln>
        </p:spPr>
      </p:sp>
      <p:sp>
        <p:nvSpPr>
          <p:cNvPr id="46" name="Text 43"/>
          <p:cNvSpPr/>
          <p:nvPr/>
        </p:nvSpPr>
        <p:spPr>
          <a:xfrm>
            <a:off x="9698584" y="3227832"/>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Docker</a:t>
            </a:r>
            <a:endParaRPr lang="en-US" sz="1100" dirty="0"/>
          </a:p>
        </p:txBody>
      </p:sp>
      <p:sp>
        <p:nvSpPr>
          <p:cNvPr id="47" name="Text 44"/>
          <p:cNvSpPr/>
          <p:nvPr/>
        </p:nvSpPr>
        <p:spPr>
          <a:xfrm>
            <a:off x="9698584" y="3849624"/>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CI/CD Pipelines</a:t>
            </a:r>
            <a:endParaRPr lang="en-US" sz="1100" dirty="0"/>
          </a:p>
        </p:txBody>
      </p:sp>
      <p:sp>
        <p:nvSpPr>
          <p:cNvPr id="48" name="Text 45"/>
          <p:cNvSpPr/>
          <p:nvPr/>
        </p:nvSpPr>
        <p:spPr>
          <a:xfrm>
            <a:off x="9698584" y="4471416"/>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Prometheus</a:t>
            </a:r>
            <a:endParaRPr lang="en-US" sz="1100" dirty="0"/>
          </a:p>
        </p:txBody>
      </p:sp>
      <p:sp>
        <p:nvSpPr>
          <p:cNvPr id="49" name="Text 46"/>
          <p:cNvSpPr/>
          <p:nvPr/>
        </p:nvSpPr>
        <p:spPr>
          <a:xfrm>
            <a:off x="9698584" y="5093208"/>
            <a:ext cx="1810512" cy="566928"/>
          </a:xfrm>
          <a:prstGeom prst="rect">
            <a:avLst/>
          </a:prstGeom>
          <a:noFill/>
          <a:ln/>
        </p:spPr>
        <p:txBody>
          <a:bodyPr wrap="square" lIns="0" tIns="0" rIns="0" bIns="0" rtlCol="0" anchor="ctr"/>
          <a:lstStyle/>
          <a:p>
            <a:pPr algn="ctr" indent="0" marL="0">
              <a:lnSpc>
                <a:spcPts val="1300"/>
              </a:lnSpc>
              <a:buNone/>
            </a:pPr>
            <a:r>
              <a:rPr lang="en-US" sz="1100" dirty="0">
                <a:solidFill>
                  <a:srgbClr val="9CA3AF"/>
                </a:solidFill>
                <a:latin typeface="Calibri" pitchFamily="34" charset="0"/>
                <a:ea typeface="Calibri" pitchFamily="34" charset="-122"/>
                <a:cs typeface="Calibri" pitchFamily="34" charset="-120"/>
              </a:rPr>
              <a:t>Grafana</a:t>
            </a:r>
            <a:endParaRPr lang="en-US" sz="1100" dirty="0"/>
          </a:p>
        </p:txBody>
      </p:sp>
      <p:sp>
        <p:nvSpPr>
          <p:cNvPr id="50" name="Text 47"/>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 / 10</a:t>
            </a:r>
            <a:endParaRPr lang="en-US" sz="1000" dirty="0"/>
          </a:p>
        </p:txBody>
      </p:sp>
      <p:sp>
        <p:nvSpPr>
          <p:cNvPr id="51" name="Text 48"/>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EXECUTION PLAN</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Six phases, from problem understanding to launch</a:t>
            </a:r>
            <a:endParaRPr lang="en-US" sz="3400" dirty="0"/>
          </a:p>
        </p:txBody>
      </p:sp>
      <p:sp>
        <p:nvSpPr>
          <p:cNvPr id="5" name="Shape 2"/>
          <p:cNvSpPr/>
          <p:nvPr/>
        </p:nvSpPr>
        <p:spPr>
          <a:xfrm>
            <a:off x="685800" y="3291840"/>
            <a:ext cx="10817352" cy="0"/>
          </a:xfrm>
          <a:prstGeom prst="line">
            <a:avLst/>
          </a:prstGeom>
          <a:noFill/>
          <a:ln w="25400">
            <a:solidFill>
              <a:srgbClr val="27272E"/>
            </a:solidFill>
            <a:prstDash val="solid"/>
          </a:ln>
        </p:spPr>
      </p:sp>
      <p:sp>
        <p:nvSpPr>
          <p:cNvPr id="6" name="Shape 3"/>
          <p:cNvSpPr/>
          <p:nvPr/>
        </p:nvSpPr>
        <p:spPr>
          <a:xfrm>
            <a:off x="1395222" y="3099816"/>
            <a:ext cx="384048" cy="384048"/>
          </a:xfrm>
          <a:prstGeom prst="ellipse">
            <a:avLst/>
          </a:prstGeom>
          <a:solidFill>
            <a:srgbClr val="3B82F6">
              <a:alpha val="75000"/>
            </a:srgbClr>
          </a:solidFill>
          <a:ln w="15875">
            <a:solidFill>
              <a:srgbClr val="3B82F6"/>
            </a:solidFill>
            <a:prstDash val="solid"/>
          </a:ln>
        </p:spPr>
      </p:sp>
      <p:sp>
        <p:nvSpPr>
          <p:cNvPr id="7" name="Text 4"/>
          <p:cNvSpPr/>
          <p:nvPr/>
        </p:nvSpPr>
        <p:spPr>
          <a:xfrm>
            <a:off x="1395222" y="3099816"/>
            <a:ext cx="384048" cy="384048"/>
          </a:xfrm>
          <a:prstGeom prst="rect">
            <a:avLst/>
          </a:prstGeom>
          <a:noFill/>
          <a:ln/>
        </p:spPr>
        <p:txBody>
          <a:bodyPr wrap="square" lIns="0" tIns="0" rIns="0" bIns="0" rtlCol="0" anchor="ctr"/>
          <a:lstStyle/>
          <a:p>
            <a:pPr algn="ctr" indent="0" marL="0">
              <a:buNone/>
            </a:pPr>
            <a:r>
              <a:rPr lang="en-US" sz="1200" b="1" dirty="0">
                <a:solidFill>
                  <a:srgbClr val="3B82F6"/>
                </a:solidFill>
                <a:latin typeface="Arial" pitchFamily="34" charset="0"/>
                <a:ea typeface="Arial" pitchFamily="34" charset="-122"/>
                <a:cs typeface="Arial" pitchFamily="34" charset="-120"/>
              </a:rPr>
              <a:t>01</a:t>
            </a:r>
            <a:endParaRPr lang="en-US" sz="1200" dirty="0"/>
          </a:p>
        </p:txBody>
      </p:sp>
      <p:sp>
        <p:nvSpPr>
          <p:cNvPr id="8" name="Shape 5"/>
          <p:cNvSpPr/>
          <p:nvPr/>
        </p:nvSpPr>
        <p:spPr>
          <a:xfrm>
            <a:off x="1587246" y="2971800"/>
            <a:ext cx="0" cy="128016"/>
          </a:xfrm>
          <a:prstGeom prst="line">
            <a:avLst/>
          </a:prstGeom>
          <a:noFill/>
          <a:ln w="19050">
            <a:solidFill>
              <a:srgbClr val="27272E"/>
            </a:solidFill>
            <a:prstDash val="solid"/>
            <a:tailEnd type="triangle"/>
          </a:ln>
        </p:spPr>
      </p:sp>
      <p:sp>
        <p:nvSpPr>
          <p:cNvPr id="9" name="Shape 6"/>
          <p:cNvSpPr/>
          <p:nvPr/>
        </p:nvSpPr>
        <p:spPr>
          <a:xfrm>
            <a:off x="845820" y="1554480"/>
            <a:ext cx="1482852" cy="1417320"/>
          </a:xfrm>
          <a:prstGeom prst="roundRect">
            <a:avLst>
              <a:gd name="adj" fmla="val 7742"/>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0" name="Text 7"/>
          <p:cNvSpPr/>
          <p:nvPr/>
        </p:nvSpPr>
        <p:spPr>
          <a:xfrm>
            <a:off x="982980" y="1682496"/>
            <a:ext cx="1208532" cy="594360"/>
          </a:xfrm>
          <a:prstGeom prst="rect">
            <a:avLst/>
          </a:prstGeom>
          <a:noFill/>
          <a:ln/>
        </p:spPr>
        <p:txBody>
          <a:bodyPr wrap="square" lIns="0" tIns="0" rIns="0" bIns="0" rtlCol="0" anchor="ctr"/>
          <a:lstStyle/>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Problem</a:t>
            </a:r>
            <a:endParaRPr lang="en-US" sz="1300" dirty="0"/>
          </a:p>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Understanding</a:t>
            </a:r>
            <a:endParaRPr lang="en-US" sz="1300" dirty="0"/>
          </a:p>
        </p:txBody>
      </p:sp>
      <p:sp>
        <p:nvSpPr>
          <p:cNvPr id="11" name="Text 8"/>
          <p:cNvSpPr/>
          <p:nvPr/>
        </p:nvSpPr>
        <p:spPr>
          <a:xfrm>
            <a:off x="982980" y="2304288"/>
            <a:ext cx="1208532" cy="594360"/>
          </a:xfrm>
          <a:prstGeom prst="rect">
            <a:avLst/>
          </a:prstGeom>
          <a:noFill/>
          <a:ln/>
        </p:spPr>
        <p:txBody>
          <a:bodyPr wrap="square" lIns="0" tIns="0" rIns="0" bIns="0" rtlCol="0" anchor="ctr"/>
          <a:lstStyle/>
          <a:p>
            <a:pPr indent="0" marL="0">
              <a:lnSpc>
                <a:spcPts val="1200"/>
              </a:lnSpc>
              <a:buNone/>
            </a:pPr>
            <a:r>
              <a:rPr lang="en-US" sz="970" dirty="0">
                <a:solidFill>
                  <a:srgbClr val="9CA3AF"/>
                </a:solidFill>
                <a:latin typeface="Calibri" pitchFamily="34" charset="0"/>
                <a:ea typeface="Calibri" pitchFamily="34" charset="-122"/>
                <a:cs typeface="Calibri" pitchFamily="34" charset="-120"/>
              </a:rPr>
              <a:t>Requirements, personas, scope, risks</a:t>
            </a:r>
            <a:endParaRPr lang="en-US" sz="970" dirty="0"/>
          </a:p>
        </p:txBody>
      </p:sp>
      <p:sp>
        <p:nvSpPr>
          <p:cNvPr id="12" name="Shape 9"/>
          <p:cNvSpPr/>
          <p:nvPr/>
        </p:nvSpPr>
        <p:spPr>
          <a:xfrm>
            <a:off x="3198114" y="3099816"/>
            <a:ext cx="384048" cy="384048"/>
          </a:xfrm>
          <a:prstGeom prst="ellipse">
            <a:avLst/>
          </a:prstGeom>
          <a:solidFill>
            <a:srgbClr val="3B82F6">
              <a:alpha val="75000"/>
            </a:srgbClr>
          </a:solidFill>
          <a:ln w="15875">
            <a:solidFill>
              <a:srgbClr val="3B82F6"/>
            </a:solidFill>
            <a:prstDash val="solid"/>
          </a:ln>
        </p:spPr>
      </p:sp>
      <p:sp>
        <p:nvSpPr>
          <p:cNvPr id="13" name="Text 10"/>
          <p:cNvSpPr/>
          <p:nvPr/>
        </p:nvSpPr>
        <p:spPr>
          <a:xfrm>
            <a:off x="3198114" y="3099816"/>
            <a:ext cx="384048" cy="384048"/>
          </a:xfrm>
          <a:prstGeom prst="rect">
            <a:avLst/>
          </a:prstGeom>
          <a:noFill/>
          <a:ln/>
        </p:spPr>
        <p:txBody>
          <a:bodyPr wrap="square" lIns="0" tIns="0" rIns="0" bIns="0" rtlCol="0" anchor="ctr"/>
          <a:lstStyle/>
          <a:p>
            <a:pPr algn="ctr" indent="0" marL="0">
              <a:buNone/>
            </a:pPr>
            <a:r>
              <a:rPr lang="en-US" sz="1200" b="1" dirty="0">
                <a:solidFill>
                  <a:srgbClr val="3B82F6"/>
                </a:solidFill>
                <a:latin typeface="Arial" pitchFamily="34" charset="0"/>
                <a:ea typeface="Arial" pitchFamily="34" charset="-122"/>
                <a:cs typeface="Arial" pitchFamily="34" charset="-120"/>
              </a:rPr>
              <a:t>02</a:t>
            </a:r>
            <a:endParaRPr lang="en-US" sz="1200" dirty="0"/>
          </a:p>
        </p:txBody>
      </p:sp>
      <p:sp>
        <p:nvSpPr>
          <p:cNvPr id="14" name="Shape 11"/>
          <p:cNvSpPr/>
          <p:nvPr/>
        </p:nvSpPr>
        <p:spPr>
          <a:xfrm>
            <a:off x="3390138" y="3483864"/>
            <a:ext cx="0" cy="128016"/>
          </a:xfrm>
          <a:prstGeom prst="line">
            <a:avLst/>
          </a:prstGeom>
          <a:noFill/>
          <a:ln w="19050">
            <a:solidFill>
              <a:srgbClr val="27272E"/>
            </a:solidFill>
            <a:prstDash val="solid"/>
            <a:tailEnd type="triangle"/>
          </a:ln>
        </p:spPr>
      </p:sp>
      <p:sp>
        <p:nvSpPr>
          <p:cNvPr id="15" name="Shape 12"/>
          <p:cNvSpPr/>
          <p:nvPr/>
        </p:nvSpPr>
        <p:spPr>
          <a:xfrm>
            <a:off x="2648712" y="3611880"/>
            <a:ext cx="1482852" cy="1417320"/>
          </a:xfrm>
          <a:prstGeom prst="roundRect">
            <a:avLst>
              <a:gd name="adj" fmla="val 7742"/>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6" name="Text 13"/>
          <p:cNvSpPr/>
          <p:nvPr/>
        </p:nvSpPr>
        <p:spPr>
          <a:xfrm>
            <a:off x="2785872" y="3739896"/>
            <a:ext cx="1208532" cy="594360"/>
          </a:xfrm>
          <a:prstGeom prst="rect">
            <a:avLst/>
          </a:prstGeom>
          <a:noFill/>
          <a:ln/>
        </p:spPr>
        <p:txBody>
          <a:bodyPr wrap="square" lIns="0" tIns="0" rIns="0" bIns="0" rtlCol="0" anchor="ctr"/>
          <a:lstStyle/>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Architecture</a:t>
            </a:r>
            <a:endParaRPr lang="en-US" sz="1300" dirty="0"/>
          </a:p>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&amp; AI Design</a:t>
            </a:r>
            <a:endParaRPr lang="en-US" sz="1300" dirty="0"/>
          </a:p>
        </p:txBody>
      </p:sp>
      <p:sp>
        <p:nvSpPr>
          <p:cNvPr id="17" name="Text 14"/>
          <p:cNvSpPr/>
          <p:nvPr/>
        </p:nvSpPr>
        <p:spPr>
          <a:xfrm>
            <a:off x="2785872" y="4361688"/>
            <a:ext cx="1208532" cy="594360"/>
          </a:xfrm>
          <a:prstGeom prst="rect">
            <a:avLst/>
          </a:prstGeom>
          <a:noFill/>
          <a:ln/>
        </p:spPr>
        <p:txBody>
          <a:bodyPr wrap="square" lIns="0" tIns="0" rIns="0" bIns="0" rtlCol="0" anchor="ctr"/>
          <a:lstStyle/>
          <a:p>
            <a:pPr indent="0" marL="0">
              <a:lnSpc>
                <a:spcPts val="1200"/>
              </a:lnSpc>
              <a:buNone/>
            </a:pPr>
            <a:r>
              <a:rPr lang="en-US" sz="970" dirty="0">
                <a:solidFill>
                  <a:srgbClr val="9CA3AF"/>
                </a:solidFill>
                <a:latin typeface="Calibri" pitchFamily="34" charset="0"/>
                <a:ea typeface="Calibri" pitchFamily="34" charset="-122"/>
                <a:cs typeface="Calibri" pitchFamily="34" charset="-120"/>
              </a:rPr>
              <a:t>System, agent &amp; data architecture</a:t>
            </a:r>
            <a:endParaRPr lang="en-US" sz="970" dirty="0"/>
          </a:p>
        </p:txBody>
      </p:sp>
      <p:sp>
        <p:nvSpPr>
          <p:cNvPr id="18" name="Shape 15"/>
          <p:cNvSpPr/>
          <p:nvPr/>
        </p:nvSpPr>
        <p:spPr>
          <a:xfrm>
            <a:off x="5001006" y="3099816"/>
            <a:ext cx="384048" cy="384048"/>
          </a:xfrm>
          <a:prstGeom prst="ellipse">
            <a:avLst/>
          </a:prstGeom>
          <a:solidFill>
            <a:srgbClr val="22D3EE">
              <a:alpha val="75000"/>
            </a:srgbClr>
          </a:solidFill>
          <a:ln w="15875">
            <a:solidFill>
              <a:srgbClr val="22D3EE"/>
            </a:solidFill>
            <a:prstDash val="solid"/>
          </a:ln>
        </p:spPr>
      </p:sp>
      <p:sp>
        <p:nvSpPr>
          <p:cNvPr id="19" name="Text 16"/>
          <p:cNvSpPr/>
          <p:nvPr/>
        </p:nvSpPr>
        <p:spPr>
          <a:xfrm>
            <a:off x="5001006" y="3099816"/>
            <a:ext cx="384048" cy="384048"/>
          </a:xfrm>
          <a:prstGeom prst="rect">
            <a:avLst/>
          </a:prstGeom>
          <a:noFill/>
          <a:ln/>
        </p:spPr>
        <p:txBody>
          <a:bodyPr wrap="square" lIns="0" tIns="0" rIns="0" bIns="0" rtlCol="0" anchor="ctr"/>
          <a:lstStyle/>
          <a:p>
            <a:pPr algn="ctr" indent="0" marL="0">
              <a:buNone/>
            </a:pPr>
            <a:r>
              <a:rPr lang="en-US" sz="1200" b="1" dirty="0">
                <a:solidFill>
                  <a:srgbClr val="22D3EE"/>
                </a:solidFill>
                <a:latin typeface="Arial" pitchFamily="34" charset="0"/>
                <a:ea typeface="Arial" pitchFamily="34" charset="-122"/>
                <a:cs typeface="Arial" pitchFamily="34" charset="-120"/>
              </a:rPr>
              <a:t>03</a:t>
            </a:r>
            <a:endParaRPr lang="en-US" sz="1200" dirty="0"/>
          </a:p>
        </p:txBody>
      </p:sp>
      <p:sp>
        <p:nvSpPr>
          <p:cNvPr id="20" name="Shape 17"/>
          <p:cNvSpPr/>
          <p:nvPr/>
        </p:nvSpPr>
        <p:spPr>
          <a:xfrm>
            <a:off x="5193030" y="2971800"/>
            <a:ext cx="0" cy="128016"/>
          </a:xfrm>
          <a:prstGeom prst="line">
            <a:avLst/>
          </a:prstGeom>
          <a:noFill/>
          <a:ln w="19050">
            <a:solidFill>
              <a:srgbClr val="27272E"/>
            </a:solidFill>
            <a:prstDash val="solid"/>
            <a:tailEnd type="triangle"/>
          </a:ln>
        </p:spPr>
      </p:sp>
      <p:sp>
        <p:nvSpPr>
          <p:cNvPr id="21" name="Shape 18"/>
          <p:cNvSpPr/>
          <p:nvPr/>
        </p:nvSpPr>
        <p:spPr>
          <a:xfrm>
            <a:off x="4451604" y="1554480"/>
            <a:ext cx="1482852" cy="1417320"/>
          </a:xfrm>
          <a:prstGeom prst="roundRect">
            <a:avLst>
              <a:gd name="adj" fmla="val 7742"/>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2" name="Text 19"/>
          <p:cNvSpPr/>
          <p:nvPr/>
        </p:nvSpPr>
        <p:spPr>
          <a:xfrm>
            <a:off x="4588764" y="1682496"/>
            <a:ext cx="1208532" cy="594360"/>
          </a:xfrm>
          <a:prstGeom prst="rect">
            <a:avLst/>
          </a:prstGeom>
          <a:noFill/>
          <a:ln/>
        </p:spPr>
        <p:txBody>
          <a:bodyPr wrap="square" lIns="0" tIns="0" rIns="0" bIns="0" rtlCol="0" anchor="ctr"/>
          <a:lstStyle/>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Core Development</a:t>
            </a:r>
            <a:endParaRPr lang="en-US" sz="1300" dirty="0"/>
          </a:p>
        </p:txBody>
      </p:sp>
      <p:sp>
        <p:nvSpPr>
          <p:cNvPr id="23" name="Text 20"/>
          <p:cNvSpPr/>
          <p:nvPr/>
        </p:nvSpPr>
        <p:spPr>
          <a:xfrm>
            <a:off x="4588764" y="2304288"/>
            <a:ext cx="1208532" cy="594360"/>
          </a:xfrm>
          <a:prstGeom prst="rect">
            <a:avLst/>
          </a:prstGeom>
          <a:noFill/>
          <a:ln/>
        </p:spPr>
        <p:txBody>
          <a:bodyPr wrap="square" lIns="0" tIns="0" rIns="0" bIns="0" rtlCol="0" anchor="ctr"/>
          <a:lstStyle/>
          <a:p>
            <a:pPr indent="0" marL="0">
              <a:lnSpc>
                <a:spcPts val="1200"/>
              </a:lnSpc>
              <a:buNone/>
            </a:pPr>
            <a:r>
              <a:rPr lang="en-US" sz="970" dirty="0">
                <a:solidFill>
                  <a:srgbClr val="9CA3AF"/>
                </a:solidFill>
                <a:latin typeface="Calibri" pitchFamily="34" charset="0"/>
                <a:ea typeface="Calibri" pitchFamily="34" charset="-122"/>
                <a:cs typeface="Calibri" pitchFamily="34" charset="-120"/>
              </a:rPr>
              <a:t>FastAPI, LangGraph, agents, frontend</a:t>
            </a:r>
            <a:endParaRPr lang="en-US" sz="970" dirty="0"/>
          </a:p>
        </p:txBody>
      </p:sp>
      <p:sp>
        <p:nvSpPr>
          <p:cNvPr id="24" name="Shape 21"/>
          <p:cNvSpPr/>
          <p:nvPr/>
        </p:nvSpPr>
        <p:spPr>
          <a:xfrm>
            <a:off x="6803898" y="3099816"/>
            <a:ext cx="384048" cy="384048"/>
          </a:xfrm>
          <a:prstGeom prst="ellipse">
            <a:avLst/>
          </a:prstGeom>
          <a:solidFill>
            <a:srgbClr val="22D3EE">
              <a:alpha val="75000"/>
            </a:srgbClr>
          </a:solidFill>
          <a:ln w="15875">
            <a:solidFill>
              <a:srgbClr val="22D3EE"/>
            </a:solidFill>
            <a:prstDash val="solid"/>
          </a:ln>
        </p:spPr>
      </p:sp>
      <p:sp>
        <p:nvSpPr>
          <p:cNvPr id="25" name="Text 22"/>
          <p:cNvSpPr/>
          <p:nvPr/>
        </p:nvSpPr>
        <p:spPr>
          <a:xfrm>
            <a:off x="6803898" y="3099816"/>
            <a:ext cx="384048" cy="384048"/>
          </a:xfrm>
          <a:prstGeom prst="rect">
            <a:avLst/>
          </a:prstGeom>
          <a:noFill/>
          <a:ln/>
        </p:spPr>
        <p:txBody>
          <a:bodyPr wrap="square" lIns="0" tIns="0" rIns="0" bIns="0" rtlCol="0" anchor="ctr"/>
          <a:lstStyle/>
          <a:p>
            <a:pPr algn="ctr" indent="0" marL="0">
              <a:buNone/>
            </a:pPr>
            <a:r>
              <a:rPr lang="en-US" sz="1200" b="1" dirty="0">
                <a:solidFill>
                  <a:srgbClr val="22D3EE"/>
                </a:solidFill>
                <a:latin typeface="Arial" pitchFamily="34" charset="0"/>
                <a:ea typeface="Arial" pitchFamily="34" charset="-122"/>
                <a:cs typeface="Arial" pitchFamily="34" charset="-120"/>
              </a:rPr>
              <a:t>04</a:t>
            </a:r>
            <a:endParaRPr lang="en-US" sz="1200" dirty="0"/>
          </a:p>
        </p:txBody>
      </p:sp>
      <p:sp>
        <p:nvSpPr>
          <p:cNvPr id="26" name="Shape 23"/>
          <p:cNvSpPr/>
          <p:nvPr/>
        </p:nvSpPr>
        <p:spPr>
          <a:xfrm>
            <a:off x="6995922" y="3483864"/>
            <a:ext cx="0" cy="128016"/>
          </a:xfrm>
          <a:prstGeom prst="line">
            <a:avLst/>
          </a:prstGeom>
          <a:noFill/>
          <a:ln w="19050">
            <a:solidFill>
              <a:srgbClr val="27272E"/>
            </a:solidFill>
            <a:prstDash val="solid"/>
            <a:tailEnd type="triangle"/>
          </a:ln>
        </p:spPr>
      </p:sp>
      <p:sp>
        <p:nvSpPr>
          <p:cNvPr id="27" name="Shape 24"/>
          <p:cNvSpPr/>
          <p:nvPr/>
        </p:nvSpPr>
        <p:spPr>
          <a:xfrm>
            <a:off x="6254496" y="3611880"/>
            <a:ext cx="1482852" cy="1417320"/>
          </a:xfrm>
          <a:prstGeom prst="roundRect">
            <a:avLst>
              <a:gd name="adj" fmla="val 7742"/>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8" name="Text 25"/>
          <p:cNvSpPr/>
          <p:nvPr/>
        </p:nvSpPr>
        <p:spPr>
          <a:xfrm>
            <a:off x="6391656" y="3739896"/>
            <a:ext cx="1208532" cy="594360"/>
          </a:xfrm>
          <a:prstGeom prst="rect">
            <a:avLst/>
          </a:prstGeom>
          <a:noFill/>
          <a:ln/>
        </p:spPr>
        <p:txBody>
          <a:bodyPr wrap="square" lIns="0" tIns="0" rIns="0" bIns="0" rtlCol="0" anchor="ctr"/>
          <a:lstStyle/>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Optimization</a:t>
            </a:r>
            <a:endParaRPr lang="en-US" sz="1300" dirty="0"/>
          </a:p>
        </p:txBody>
      </p:sp>
      <p:sp>
        <p:nvSpPr>
          <p:cNvPr id="29" name="Text 26"/>
          <p:cNvSpPr/>
          <p:nvPr/>
        </p:nvSpPr>
        <p:spPr>
          <a:xfrm>
            <a:off x="6391656" y="4361688"/>
            <a:ext cx="1208532" cy="594360"/>
          </a:xfrm>
          <a:prstGeom prst="rect">
            <a:avLst/>
          </a:prstGeom>
          <a:noFill/>
          <a:ln/>
        </p:spPr>
        <p:txBody>
          <a:bodyPr wrap="square" lIns="0" tIns="0" rIns="0" bIns="0" rtlCol="0" anchor="ctr"/>
          <a:lstStyle/>
          <a:p>
            <a:pPr indent="0" marL="0">
              <a:lnSpc>
                <a:spcPts val="1200"/>
              </a:lnSpc>
              <a:buNone/>
            </a:pPr>
            <a:r>
              <a:rPr lang="en-US" sz="970" dirty="0">
                <a:solidFill>
                  <a:srgbClr val="9CA3AF"/>
                </a:solidFill>
                <a:latin typeface="Calibri" pitchFamily="34" charset="0"/>
                <a:ea typeface="Calibri" pitchFamily="34" charset="-122"/>
                <a:cs typeface="Calibri" pitchFamily="34" charset="-120"/>
              </a:rPr>
              <a:t>Prompt, retrieval &amp; workflow tuning</a:t>
            </a:r>
            <a:endParaRPr lang="en-US" sz="970" dirty="0"/>
          </a:p>
        </p:txBody>
      </p:sp>
      <p:sp>
        <p:nvSpPr>
          <p:cNvPr id="30" name="Shape 27"/>
          <p:cNvSpPr/>
          <p:nvPr/>
        </p:nvSpPr>
        <p:spPr>
          <a:xfrm>
            <a:off x="8606790" y="3099816"/>
            <a:ext cx="384048" cy="384048"/>
          </a:xfrm>
          <a:prstGeom prst="ellipse">
            <a:avLst/>
          </a:prstGeom>
          <a:solidFill>
            <a:srgbClr val="8B5CF6">
              <a:alpha val="75000"/>
            </a:srgbClr>
          </a:solidFill>
          <a:ln w="15875">
            <a:solidFill>
              <a:srgbClr val="8B5CF6"/>
            </a:solidFill>
            <a:prstDash val="solid"/>
          </a:ln>
        </p:spPr>
      </p:sp>
      <p:sp>
        <p:nvSpPr>
          <p:cNvPr id="31" name="Text 28"/>
          <p:cNvSpPr/>
          <p:nvPr/>
        </p:nvSpPr>
        <p:spPr>
          <a:xfrm>
            <a:off x="8606790" y="3099816"/>
            <a:ext cx="384048" cy="384048"/>
          </a:xfrm>
          <a:prstGeom prst="rect">
            <a:avLst/>
          </a:prstGeom>
          <a:noFill/>
          <a:ln/>
        </p:spPr>
        <p:txBody>
          <a:bodyPr wrap="square" lIns="0" tIns="0" rIns="0" bIns="0" rtlCol="0" anchor="ctr"/>
          <a:lstStyle/>
          <a:p>
            <a:pPr algn="ctr" indent="0" marL="0">
              <a:buNone/>
            </a:pPr>
            <a:r>
              <a:rPr lang="en-US" sz="1200" b="1" dirty="0">
                <a:solidFill>
                  <a:srgbClr val="8B5CF6"/>
                </a:solidFill>
                <a:latin typeface="Arial" pitchFamily="34" charset="0"/>
                <a:ea typeface="Arial" pitchFamily="34" charset="-122"/>
                <a:cs typeface="Arial" pitchFamily="34" charset="-120"/>
              </a:rPr>
              <a:t>05</a:t>
            </a:r>
            <a:endParaRPr lang="en-US" sz="1200" dirty="0"/>
          </a:p>
        </p:txBody>
      </p:sp>
      <p:sp>
        <p:nvSpPr>
          <p:cNvPr id="32" name="Shape 29"/>
          <p:cNvSpPr/>
          <p:nvPr/>
        </p:nvSpPr>
        <p:spPr>
          <a:xfrm>
            <a:off x="8798814" y="2971800"/>
            <a:ext cx="0" cy="128016"/>
          </a:xfrm>
          <a:prstGeom prst="line">
            <a:avLst/>
          </a:prstGeom>
          <a:noFill/>
          <a:ln w="19050">
            <a:solidFill>
              <a:srgbClr val="27272E"/>
            </a:solidFill>
            <a:prstDash val="solid"/>
            <a:tailEnd type="triangle"/>
          </a:ln>
        </p:spPr>
      </p:sp>
      <p:sp>
        <p:nvSpPr>
          <p:cNvPr id="33" name="Shape 30"/>
          <p:cNvSpPr/>
          <p:nvPr/>
        </p:nvSpPr>
        <p:spPr>
          <a:xfrm>
            <a:off x="8057388" y="1554480"/>
            <a:ext cx="1482852" cy="1417320"/>
          </a:xfrm>
          <a:prstGeom prst="roundRect">
            <a:avLst>
              <a:gd name="adj" fmla="val 7742"/>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4" name="Text 31"/>
          <p:cNvSpPr/>
          <p:nvPr/>
        </p:nvSpPr>
        <p:spPr>
          <a:xfrm>
            <a:off x="8194548" y="1682496"/>
            <a:ext cx="1208532" cy="594360"/>
          </a:xfrm>
          <a:prstGeom prst="rect">
            <a:avLst/>
          </a:prstGeom>
          <a:noFill/>
          <a:ln/>
        </p:spPr>
        <p:txBody>
          <a:bodyPr wrap="square" lIns="0" tIns="0" rIns="0" bIns="0" rtlCol="0" anchor="ctr"/>
          <a:lstStyle/>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Testing</a:t>
            </a:r>
            <a:endParaRPr lang="en-US" sz="1300" dirty="0"/>
          </a:p>
        </p:txBody>
      </p:sp>
      <p:sp>
        <p:nvSpPr>
          <p:cNvPr id="35" name="Text 32"/>
          <p:cNvSpPr/>
          <p:nvPr/>
        </p:nvSpPr>
        <p:spPr>
          <a:xfrm>
            <a:off x="8194548" y="2304288"/>
            <a:ext cx="1208532" cy="594360"/>
          </a:xfrm>
          <a:prstGeom prst="rect">
            <a:avLst/>
          </a:prstGeom>
          <a:noFill/>
          <a:ln/>
        </p:spPr>
        <p:txBody>
          <a:bodyPr wrap="square" lIns="0" tIns="0" rIns="0" bIns="0" rtlCol="0" anchor="ctr"/>
          <a:lstStyle/>
          <a:p>
            <a:pPr indent="0" marL="0">
              <a:lnSpc>
                <a:spcPts val="1200"/>
              </a:lnSpc>
              <a:buNone/>
            </a:pPr>
            <a:r>
              <a:rPr lang="en-US" sz="970" dirty="0">
                <a:solidFill>
                  <a:srgbClr val="9CA3AF"/>
                </a:solidFill>
                <a:latin typeface="Calibri" pitchFamily="34" charset="0"/>
                <a:ea typeface="Calibri" pitchFamily="34" charset="-122"/>
                <a:cs typeface="Calibri" pitchFamily="34" charset="-120"/>
              </a:rPr>
              <a:t>Unit, integration, AI validation, load</a:t>
            </a:r>
            <a:endParaRPr lang="en-US" sz="970" dirty="0"/>
          </a:p>
        </p:txBody>
      </p:sp>
      <p:sp>
        <p:nvSpPr>
          <p:cNvPr id="36" name="Shape 33"/>
          <p:cNvSpPr/>
          <p:nvPr/>
        </p:nvSpPr>
        <p:spPr>
          <a:xfrm>
            <a:off x="10409682" y="3099816"/>
            <a:ext cx="384048" cy="384048"/>
          </a:xfrm>
          <a:prstGeom prst="ellipse">
            <a:avLst/>
          </a:prstGeom>
          <a:solidFill>
            <a:srgbClr val="34D399">
              <a:alpha val="75000"/>
            </a:srgbClr>
          </a:solidFill>
          <a:ln w="15875">
            <a:solidFill>
              <a:srgbClr val="34D399"/>
            </a:solidFill>
            <a:prstDash val="solid"/>
          </a:ln>
        </p:spPr>
      </p:sp>
      <p:sp>
        <p:nvSpPr>
          <p:cNvPr id="37" name="Text 34"/>
          <p:cNvSpPr/>
          <p:nvPr/>
        </p:nvSpPr>
        <p:spPr>
          <a:xfrm>
            <a:off x="10409682" y="3099816"/>
            <a:ext cx="384048" cy="384048"/>
          </a:xfrm>
          <a:prstGeom prst="rect">
            <a:avLst/>
          </a:prstGeom>
          <a:noFill/>
          <a:ln/>
        </p:spPr>
        <p:txBody>
          <a:bodyPr wrap="square" lIns="0" tIns="0" rIns="0" bIns="0" rtlCol="0" anchor="ctr"/>
          <a:lstStyle/>
          <a:p>
            <a:pPr algn="ctr" indent="0" marL="0">
              <a:buNone/>
            </a:pPr>
            <a:r>
              <a:rPr lang="en-US" sz="1200" b="1" dirty="0">
                <a:solidFill>
                  <a:srgbClr val="34D399"/>
                </a:solidFill>
                <a:latin typeface="Arial" pitchFamily="34" charset="0"/>
                <a:ea typeface="Arial" pitchFamily="34" charset="-122"/>
                <a:cs typeface="Arial" pitchFamily="34" charset="-120"/>
              </a:rPr>
              <a:t>06</a:t>
            </a:r>
            <a:endParaRPr lang="en-US" sz="1200" dirty="0"/>
          </a:p>
        </p:txBody>
      </p:sp>
      <p:sp>
        <p:nvSpPr>
          <p:cNvPr id="38" name="Shape 35"/>
          <p:cNvSpPr/>
          <p:nvPr/>
        </p:nvSpPr>
        <p:spPr>
          <a:xfrm>
            <a:off x="10601706" y="3483864"/>
            <a:ext cx="0" cy="128016"/>
          </a:xfrm>
          <a:prstGeom prst="line">
            <a:avLst/>
          </a:prstGeom>
          <a:noFill/>
          <a:ln w="19050">
            <a:solidFill>
              <a:srgbClr val="27272E"/>
            </a:solidFill>
            <a:prstDash val="solid"/>
            <a:tailEnd type="triangle"/>
          </a:ln>
        </p:spPr>
      </p:sp>
      <p:sp>
        <p:nvSpPr>
          <p:cNvPr id="39" name="Shape 36"/>
          <p:cNvSpPr/>
          <p:nvPr/>
        </p:nvSpPr>
        <p:spPr>
          <a:xfrm>
            <a:off x="9860280" y="3611880"/>
            <a:ext cx="1482852" cy="1417320"/>
          </a:xfrm>
          <a:prstGeom prst="roundRect">
            <a:avLst>
              <a:gd name="adj" fmla="val 7742"/>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0" name="Text 37"/>
          <p:cNvSpPr/>
          <p:nvPr/>
        </p:nvSpPr>
        <p:spPr>
          <a:xfrm>
            <a:off x="9997440" y="3739896"/>
            <a:ext cx="1208532" cy="594360"/>
          </a:xfrm>
          <a:prstGeom prst="rect">
            <a:avLst/>
          </a:prstGeom>
          <a:noFill/>
          <a:ln/>
        </p:spPr>
        <p:txBody>
          <a:bodyPr wrap="square" lIns="0" tIns="0" rIns="0" bIns="0" rtlCol="0" anchor="ctr"/>
          <a:lstStyle/>
          <a:p>
            <a:pPr indent="0" marL="0">
              <a:lnSpc>
                <a:spcPts val="1500"/>
              </a:lnSpc>
              <a:buNone/>
            </a:pPr>
            <a:r>
              <a:rPr lang="en-US" sz="1300" b="1" dirty="0">
                <a:solidFill>
                  <a:srgbClr val="F5F5F7"/>
                </a:solidFill>
                <a:latin typeface="Calibri" pitchFamily="34" charset="0"/>
                <a:ea typeface="Calibri" pitchFamily="34" charset="-122"/>
                <a:cs typeface="Calibri" pitchFamily="34" charset="-120"/>
              </a:rPr>
              <a:t>Deployment</a:t>
            </a:r>
            <a:endParaRPr lang="en-US" sz="1300" dirty="0"/>
          </a:p>
        </p:txBody>
      </p:sp>
      <p:sp>
        <p:nvSpPr>
          <p:cNvPr id="41" name="Text 38"/>
          <p:cNvSpPr/>
          <p:nvPr/>
        </p:nvSpPr>
        <p:spPr>
          <a:xfrm>
            <a:off x="9997440" y="4361688"/>
            <a:ext cx="1208532" cy="594360"/>
          </a:xfrm>
          <a:prstGeom prst="rect">
            <a:avLst/>
          </a:prstGeom>
          <a:noFill/>
          <a:ln/>
        </p:spPr>
        <p:txBody>
          <a:bodyPr wrap="square" lIns="0" tIns="0" rIns="0" bIns="0" rtlCol="0" anchor="ctr"/>
          <a:lstStyle/>
          <a:p>
            <a:pPr indent="0" marL="0">
              <a:lnSpc>
                <a:spcPts val="1200"/>
              </a:lnSpc>
              <a:buNone/>
            </a:pPr>
            <a:r>
              <a:rPr lang="en-US" sz="970" dirty="0">
                <a:solidFill>
                  <a:srgbClr val="9CA3AF"/>
                </a:solidFill>
                <a:latin typeface="Calibri" pitchFamily="34" charset="0"/>
                <a:ea typeface="Calibri" pitchFamily="34" charset="-122"/>
                <a:cs typeface="Calibri" pitchFamily="34" charset="-120"/>
              </a:rPr>
              <a:t>Docker, cloud launch, live demo</a:t>
            </a:r>
            <a:endParaRPr lang="en-US" sz="970" dirty="0"/>
          </a:p>
        </p:txBody>
      </p:sp>
      <p:sp>
        <p:nvSpPr>
          <p:cNvPr id="42" name="Text 39"/>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 / 10</a:t>
            </a:r>
            <a:endParaRPr lang="en-US" sz="1000" dirty="0"/>
          </a:p>
        </p:txBody>
      </p:sp>
      <p:sp>
        <p:nvSpPr>
          <p:cNvPr id="43" name="Text 40"/>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pic>
        <p:nvPicPr>
          <p:cNvPr id="2" name="Image 0" descr="/home/claude/deck/assets/bg-subtl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TARGETS &amp; TRAJECTORY</a:t>
            </a:r>
            <a:endParaRPr lang="en-US" sz="125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algn="l" indent="0" marL="0">
              <a:lnSpc>
                <a:spcPts val="3800"/>
              </a:lnSpc>
              <a:buNone/>
            </a:pPr>
            <a:r>
              <a:rPr lang="en-US" sz="3400" b="1" dirty="0">
                <a:solidFill>
                  <a:srgbClr val="F5F5F7"/>
                </a:solidFill>
                <a:latin typeface="Calibri" pitchFamily="34" charset="0"/>
                <a:ea typeface="Calibri" pitchFamily="34" charset="-122"/>
                <a:cs typeface="Calibri" pitchFamily="34" charset="-120"/>
              </a:rPr>
              <a:t>Performance targets and what comes next</a:t>
            </a:r>
            <a:endParaRPr lang="en-US" sz="3400" dirty="0"/>
          </a:p>
        </p:txBody>
      </p:sp>
      <p:sp>
        <p:nvSpPr>
          <p:cNvPr id="5" name="Shape 2"/>
          <p:cNvSpPr/>
          <p:nvPr/>
        </p:nvSpPr>
        <p:spPr>
          <a:xfrm>
            <a:off x="335128" y="1737360"/>
            <a:ext cx="1783080" cy="1371600"/>
          </a:xfrm>
          <a:prstGeom prst="roundRect">
            <a:avLst>
              <a:gd name="adj" fmla="val 8000"/>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6" name="Text 3"/>
          <p:cNvSpPr/>
          <p:nvPr/>
        </p:nvSpPr>
        <p:spPr>
          <a:xfrm>
            <a:off x="335128" y="1847088"/>
            <a:ext cx="1783080" cy="685800"/>
          </a:xfrm>
          <a:prstGeom prst="rect">
            <a:avLst/>
          </a:prstGeom>
          <a:noFill/>
          <a:ln/>
        </p:spPr>
        <p:txBody>
          <a:bodyPr wrap="square" lIns="0" tIns="0" rIns="0" bIns="0" rtlCol="0" anchor="ctr"/>
          <a:lstStyle/>
          <a:p>
            <a:pPr algn="ctr" indent="0" marL="0">
              <a:buNone/>
            </a:pPr>
            <a:r>
              <a:rPr lang="en-US" sz="2700" b="1" dirty="0">
                <a:solidFill>
                  <a:srgbClr val="3B82F6"/>
                </a:solidFill>
                <a:latin typeface="Calibri" pitchFamily="34" charset="0"/>
                <a:ea typeface="Calibri" pitchFamily="34" charset="-122"/>
                <a:cs typeface="Calibri" pitchFamily="34" charset="-120"/>
              </a:rPr>
              <a:t>&gt;98%</a:t>
            </a:r>
            <a:endParaRPr lang="en-US" sz="2700" dirty="0"/>
          </a:p>
        </p:txBody>
      </p:sp>
      <p:sp>
        <p:nvSpPr>
          <p:cNvPr id="7" name="Text 4"/>
          <p:cNvSpPr/>
          <p:nvPr/>
        </p:nvSpPr>
        <p:spPr>
          <a:xfrm>
            <a:off x="408280" y="2542032"/>
            <a:ext cx="1636776" cy="502920"/>
          </a:xfrm>
          <a:prstGeom prst="rect">
            <a:avLst/>
          </a:prstGeom>
          <a:noFill/>
          <a:ln/>
        </p:spPr>
        <p:txBody>
          <a:bodyPr wrap="square" lIns="0" tIns="0" rIns="0" bIns="0" rtlCol="0" anchor="ctr"/>
          <a:lstStyle/>
          <a:p>
            <a:pPr algn="ctr" indent="0" marL="0">
              <a:lnSpc>
                <a:spcPts val="1100"/>
              </a:lnSpc>
              <a:buNone/>
            </a:pPr>
            <a:r>
              <a:rPr lang="en-US" sz="900" spc="50" kern="0" dirty="0">
                <a:solidFill>
                  <a:srgbClr val="9CA3AF"/>
                </a:solidFill>
                <a:latin typeface="Calibri" pitchFamily="34" charset="0"/>
                <a:ea typeface="Calibri" pitchFamily="34" charset="-122"/>
                <a:cs typeface="Calibri" pitchFamily="34" charset="-120"/>
              </a:rPr>
              <a:t>CITATION PRECISION</a:t>
            </a:r>
            <a:endParaRPr lang="en-US" sz="900" dirty="0"/>
          </a:p>
        </p:txBody>
      </p:sp>
      <p:sp>
        <p:nvSpPr>
          <p:cNvPr id="8" name="Shape 5"/>
          <p:cNvSpPr/>
          <p:nvPr/>
        </p:nvSpPr>
        <p:spPr>
          <a:xfrm>
            <a:off x="2282800" y="1737360"/>
            <a:ext cx="1783080" cy="1371600"/>
          </a:xfrm>
          <a:prstGeom prst="roundRect">
            <a:avLst>
              <a:gd name="adj" fmla="val 8000"/>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9" name="Text 6"/>
          <p:cNvSpPr/>
          <p:nvPr/>
        </p:nvSpPr>
        <p:spPr>
          <a:xfrm>
            <a:off x="2282800" y="1847088"/>
            <a:ext cx="1783080" cy="685800"/>
          </a:xfrm>
          <a:prstGeom prst="rect">
            <a:avLst/>
          </a:prstGeom>
          <a:noFill/>
          <a:ln/>
        </p:spPr>
        <p:txBody>
          <a:bodyPr wrap="square" lIns="0" tIns="0" rIns="0" bIns="0" rtlCol="0" anchor="ctr"/>
          <a:lstStyle/>
          <a:p>
            <a:pPr algn="ctr" indent="0" marL="0">
              <a:buNone/>
            </a:pPr>
            <a:r>
              <a:rPr lang="en-US" sz="2700" b="1" dirty="0">
                <a:solidFill>
                  <a:srgbClr val="22D3EE"/>
                </a:solidFill>
                <a:latin typeface="Calibri" pitchFamily="34" charset="0"/>
                <a:ea typeface="Calibri" pitchFamily="34" charset="-122"/>
                <a:cs typeface="Calibri" pitchFamily="34" charset="-120"/>
              </a:rPr>
              <a:t>&lt;2%</a:t>
            </a:r>
            <a:endParaRPr lang="en-US" sz="2700" dirty="0"/>
          </a:p>
        </p:txBody>
      </p:sp>
      <p:sp>
        <p:nvSpPr>
          <p:cNvPr id="10" name="Text 7"/>
          <p:cNvSpPr/>
          <p:nvPr/>
        </p:nvSpPr>
        <p:spPr>
          <a:xfrm>
            <a:off x="2355952" y="2542032"/>
            <a:ext cx="1636776" cy="502920"/>
          </a:xfrm>
          <a:prstGeom prst="rect">
            <a:avLst/>
          </a:prstGeom>
          <a:noFill/>
          <a:ln/>
        </p:spPr>
        <p:txBody>
          <a:bodyPr wrap="square" lIns="0" tIns="0" rIns="0" bIns="0" rtlCol="0" anchor="ctr"/>
          <a:lstStyle/>
          <a:p>
            <a:pPr algn="ctr" indent="0" marL="0">
              <a:lnSpc>
                <a:spcPts val="1100"/>
              </a:lnSpc>
              <a:buNone/>
            </a:pPr>
            <a:r>
              <a:rPr lang="en-US" sz="900" spc="50" kern="0" dirty="0">
                <a:solidFill>
                  <a:srgbClr val="9CA3AF"/>
                </a:solidFill>
                <a:latin typeface="Calibri" pitchFamily="34" charset="0"/>
                <a:ea typeface="Calibri" pitchFamily="34" charset="-122"/>
                <a:cs typeface="Calibri" pitchFamily="34" charset="-120"/>
              </a:rPr>
              <a:t>HALLUCINATION RATE</a:t>
            </a:r>
            <a:endParaRPr lang="en-US" sz="900" dirty="0"/>
          </a:p>
        </p:txBody>
      </p:sp>
      <p:sp>
        <p:nvSpPr>
          <p:cNvPr id="11" name="Shape 8"/>
          <p:cNvSpPr/>
          <p:nvPr/>
        </p:nvSpPr>
        <p:spPr>
          <a:xfrm>
            <a:off x="4230472" y="1737360"/>
            <a:ext cx="1783080" cy="1371600"/>
          </a:xfrm>
          <a:prstGeom prst="roundRect">
            <a:avLst>
              <a:gd name="adj" fmla="val 8000"/>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2" name="Text 9"/>
          <p:cNvSpPr/>
          <p:nvPr/>
        </p:nvSpPr>
        <p:spPr>
          <a:xfrm>
            <a:off x="4230472" y="1847088"/>
            <a:ext cx="1783080" cy="685800"/>
          </a:xfrm>
          <a:prstGeom prst="rect">
            <a:avLst/>
          </a:prstGeom>
          <a:noFill/>
          <a:ln/>
        </p:spPr>
        <p:txBody>
          <a:bodyPr wrap="square" lIns="0" tIns="0" rIns="0" bIns="0" rtlCol="0" anchor="ctr"/>
          <a:lstStyle/>
          <a:p>
            <a:pPr algn="ctr" indent="0" marL="0">
              <a:buNone/>
            </a:pPr>
            <a:r>
              <a:rPr lang="en-US" sz="2700" b="1" dirty="0">
                <a:solidFill>
                  <a:srgbClr val="8B5CF6"/>
                </a:solidFill>
                <a:latin typeface="Calibri" pitchFamily="34" charset="0"/>
                <a:ea typeface="Calibri" pitchFamily="34" charset="-122"/>
                <a:cs typeface="Calibri" pitchFamily="34" charset="-120"/>
              </a:rPr>
              <a:t>99%</a:t>
            </a:r>
            <a:endParaRPr lang="en-US" sz="2700" dirty="0"/>
          </a:p>
        </p:txBody>
      </p:sp>
      <p:sp>
        <p:nvSpPr>
          <p:cNvPr id="13" name="Text 10"/>
          <p:cNvSpPr/>
          <p:nvPr/>
        </p:nvSpPr>
        <p:spPr>
          <a:xfrm>
            <a:off x="4303624" y="2542032"/>
            <a:ext cx="1636776" cy="502920"/>
          </a:xfrm>
          <a:prstGeom prst="rect">
            <a:avLst/>
          </a:prstGeom>
          <a:noFill/>
          <a:ln/>
        </p:spPr>
        <p:txBody>
          <a:bodyPr wrap="square" lIns="0" tIns="0" rIns="0" bIns="0" rtlCol="0" anchor="ctr"/>
          <a:lstStyle/>
          <a:p>
            <a:pPr algn="ctr" indent="0" marL="0">
              <a:lnSpc>
                <a:spcPts val="1100"/>
              </a:lnSpc>
              <a:buNone/>
            </a:pPr>
            <a:r>
              <a:rPr lang="en-US" sz="900" spc="50" kern="0" dirty="0">
                <a:solidFill>
                  <a:srgbClr val="9CA3AF"/>
                </a:solidFill>
                <a:latin typeface="Calibri" pitchFamily="34" charset="0"/>
                <a:ea typeface="Calibri" pitchFamily="34" charset="-122"/>
                <a:cs typeface="Calibri" pitchFamily="34" charset="-120"/>
              </a:rPr>
              <a:t>WORKFLOW COMPLETION</a:t>
            </a:r>
            <a:endParaRPr lang="en-US" sz="900" dirty="0"/>
          </a:p>
        </p:txBody>
      </p:sp>
      <p:sp>
        <p:nvSpPr>
          <p:cNvPr id="14" name="Shape 11"/>
          <p:cNvSpPr/>
          <p:nvPr/>
        </p:nvSpPr>
        <p:spPr>
          <a:xfrm>
            <a:off x="6178144" y="1737360"/>
            <a:ext cx="1783080" cy="1371600"/>
          </a:xfrm>
          <a:prstGeom prst="roundRect">
            <a:avLst>
              <a:gd name="adj" fmla="val 8000"/>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5" name="Text 12"/>
          <p:cNvSpPr/>
          <p:nvPr/>
        </p:nvSpPr>
        <p:spPr>
          <a:xfrm>
            <a:off x="6178144" y="1847088"/>
            <a:ext cx="1783080" cy="685800"/>
          </a:xfrm>
          <a:prstGeom prst="rect">
            <a:avLst/>
          </a:prstGeom>
          <a:noFill/>
          <a:ln/>
        </p:spPr>
        <p:txBody>
          <a:bodyPr wrap="square" lIns="0" tIns="0" rIns="0" bIns="0" rtlCol="0" anchor="ctr"/>
          <a:lstStyle/>
          <a:p>
            <a:pPr algn="ctr" indent="0" marL="0">
              <a:buNone/>
            </a:pPr>
            <a:r>
              <a:rPr lang="en-US" sz="2700" b="1" dirty="0">
                <a:solidFill>
                  <a:srgbClr val="F59E0B"/>
                </a:solidFill>
                <a:latin typeface="Calibri" pitchFamily="34" charset="0"/>
                <a:ea typeface="Calibri" pitchFamily="34" charset="-122"/>
                <a:cs typeface="Calibri" pitchFamily="34" charset="-120"/>
              </a:rPr>
              <a:t>&gt;40%</a:t>
            </a:r>
            <a:endParaRPr lang="en-US" sz="2700" dirty="0"/>
          </a:p>
        </p:txBody>
      </p:sp>
      <p:sp>
        <p:nvSpPr>
          <p:cNvPr id="16" name="Text 13"/>
          <p:cNvSpPr/>
          <p:nvPr/>
        </p:nvSpPr>
        <p:spPr>
          <a:xfrm>
            <a:off x="6251296" y="2542032"/>
            <a:ext cx="1636776" cy="502920"/>
          </a:xfrm>
          <a:prstGeom prst="rect">
            <a:avLst/>
          </a:prstGeom>
          <a:noFill/>
          <a:ln/>
        </p:spPr>
        <p:txBody>
          <a:bodyPr wrap="square" lIns="0" tIns="0" rIns="0" bIns="0" rtlCol="0" anchor="ctr"/>
          <a:lstStyle/>
          <a:p>
            <a:pPr algn="ctr" indent="0" marL="0">
              <a:lnSpc>
                <a:spcPts val="1100"/>
              </a:lnSpc>
              <a:buNone/>
            </a:pPr>
            <a:r>
              <a:rPr lang="en-US" sz="900" spc="50" kern="0" dirty="0">
                <a:solidFill>
                  <a:srgbClr val="9CA3AF"/>
                </a:solidFill>
                <a:latin typeface="Calibri" pitchFamily="34" charset="0"/>
                <a:ea typeface="Calibri" pitchFamily="34" charset="-122"/>
                <a:cs typeface="Calibri" pitchFamily="34" charset="-120"/>
              </a:rPr>
              <a:t>TOKEN COST REDUCTION</a:t>
            </a:r>
            <a:endParaRPr lang="en-US" sz="900" dirty="0"/>
          </a:p>
        </p:txBody>
      </p:sp>
      <p:sp>
        <p:nvSpPr>
          <p:cNvPr id="17" name="Shape 14"/>
          <p:cNvSpPr/>
          <p:nvPr/>
        </p:nvSpPr>
        <p:spPr>
          <a:xfrm>
            <a:off x="8125816" y="1737360"/>
            <a:ext cx="1783080" cy="1371600"/>
          </a:xfrm>
          <a:prstGeom prst="roundRect">
            <a:avLst>
              <a:gd name="adj" fmla="val 8000"/>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18" name="Text 15"/>
          <p:cNvSpPr/>
          <p:nvPr/>
        </p:nvSpPr>
        <p:spPr>
          <a:xfrm>
            <a:off x="8125816" y="1847088"/>
            <a:ext cx="1783080" cy="685800"/>
          </a:xfrm>
          <a:prstGeom prst="rect">
            <a:avLst/>
          </a:prstGeom>
          <a:noFill/>
          <a:ln/>
        </p:spPr>
        <p:txBody>
          <a:bodyPr wrap="square" lIns="0" tIns="0" rIns="0" bIns="0" rtlCol="0" anchor="ctr"/>
          <a:lstStyle/>
          <a:p>
            <a:pPr algn="ctr" indent="0" marL="0">
              <a:buNone/>
            </a:pPr>
            <a:r>
              <a:rPr lang="en-US" sz="2700" b="1" dirty="0">
                <a:solidFill>
                  <a:srgbClr val="34D399"/>
                </a:solidFill>
                <a:latin typeface="Calibri" pitchFamily="34" charset="0"/>
                <a:ea typeface="Calibri" pitchFamily="34" charset="-122"/>
                <a:cs typeface="Calibri" pitchFamily="34" charset="-120"/>
              </a:rPr>
              <a:t>100+</a:t>
            </a:r>
            <a:endParaRPr lang="en-US" sz="2700" dirty="0"/>
          </a:p>
        </p:txBody>
      </p:sp>
      <p:sp>
        <p:nvSpPr>
          <p:cNvPr id="19" name="Text 16"/>
          <p:cNvSpPr/>
          <p:nvPr/>
        </p:nvSpPr>
        <p:spPr>
          <a:xfrm>
            <a:off x="8198968" y="2542032"/>
            <a:ext cx="1636776" cy="502920"/>
          </a:xfrm>
          <a:prstGeom prst="rect">
            <a:avLst/>
          </a:prstGeom>
          <a:noFill/>
          <a:ln/>
        </p:spPr>
        <p:txBody>
          <a:bodyPr wrap="square" lIns="0" tIns="0" rIns="0" bIns="0" rtlCol="0" anchor="ctr"/>
          <a:lstStyle/>
          <a:p>
            <a:pPr algn="ctr" indent="0" marL="0">
              <a:lnSpc>
                <a:spcPts val="1100"/>
              </a:lnSpc>
              <a:buNone/>
            </a:pPr>
            <a:r>
              <a:rPr lang="en-US" sz="900" spc="50" kern="0" dirty="0">
                <a:solidFill>
                  <a:srgbClr val="9CA3AF"/>
                </a:solidFill>
                <a:latin typeface="Calibri" pitchFamily="34" charset="0"/>
                <a:ea typeface="Calibri" pitchFamily="34" charset="-122"/>
                <a:cs typeface="Calibri" pitchFamily="34" charset="-120"/>
              </a:rPr>
              <a:t>CONCURRENT USERS</a:t>
            </a:r>
            <a:endParaRPr lang="en-US" sz="900" dirty="0"/>
          </a:p>
        </p:txBody>
      </p:sp>
      <p:sp>
        <p:nvSpPr>
          <p:cNvPr id="20" name="Shape 17"/>
          <p:cNvSpPr/>
          <p:nvPr/>
        </p:nvSpPr>
        <p:spPr>
          <a:xfrm>
            <a:off x="10073488" y="1737360"/>
            <a:ext cx="1783080" cy="1371600"/>
          </a:xfrm>
          <a:prstGeom prst="roundRect">
            <a:avLst>
              <a:gd name="adj" fmla="val 8000"/>
            </a:avLst>
          </a:prstGeom>
          <a:solidFill>
            <a:srgbClr val="141417">
              <a:alpha val="92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1" name="Text 18"/>
          <p:cNvSpPr/>
          <p:nvPr/>
        </p:nvSpPr>
        <p:spPr>
          <a:xfrm>
            <a:off x="10073488" y="1847088"/>
            <a:ext cx="1783080" cy="685800"/>
          </a:xfrm>
          <a:prstGeom prst="rect">
            <a:avLst/>
          </a:prstGeom>
          <a:noFill/>
          <a:ln/>
        </p:spPr>
        <p:txBody>
          <a:bodyPr wrap="square" lIns="0" tIns="0" rIns="0" bIns="0" rtlCol="0" anchor="ctr"/>
          <a:lstStyle/>
          <a:p>
            <a:pPr algn="ctr" indent="0" marL="0">
              <a:buNone/>
            </a:pPr>
            <a:r>
              <a:rPr lang="en-US" sz="2700" b="1" dirty="0">
                <a:solidFill>
                  <a:srgbClr val="F87171"/>
                </a:solidFill>
                <a:latin typeface="Calibri" pitchFamily="34" charset="0"/>
                <a:ea typeface="Calibri" pitchFamily="34" charset="-122"/>
                <a:cs typeface="Calibri" pitchFamily="34" charset="-120"/>
              </a:rPr>
              <a:t>&lt;5s</a:t>
            </a:r>
            <a:endParaRPr lang="en-US" sz="2700" dirty="0"/>
          </a:p>
        </p:txBody>
      </p:sp>
      <p:sp>
        <p:nvSpPr>
          <p:cNvPr id="22" name="Text 19"/>
          <p:cNvSpPr/>
          <p:nvPr/>
        </p:nvSpPr>
        <p:spPr>
          <a:xfrm>
            <a:off x="10146640" y="2542032"/>
            <a:ext cx="1636776" cy="502920"/>
          </a:xfrm>
          <a:prstGeom prst="rect">
            <a:avLst/>
          </a:prstGeom>
          <a:noFill/>
          <a:ln/>
        </p:spPr>
        <p:txBody>
          <a:bodyPr wrap="square" lIns="0" tIns="0" rIns="0" bIns="0" rtlCol="0" anchor="ctr"/>
          <a:lstStyle/>
          <a:p>
            <a:pPr algn="ctr" indent="0" marL="0">
              <a:lnSpc>
                <a:spcPts val="1100"/>
              </a:lnSpc>
              <a:buNone/>
            </a:pPr>
            <a:r>
              <a:rPr lang="en-US" sz="900" spc="50" kern="0" dirty="0">
                <a:solidFill>
                  <a:srgbClr val="9CA3AF"/>
                </a:solidFill>
                <a:latin typeface="Calibri" pitchFamily="34" charset="0"/>
                <a:ea typeface="Calibri" pitchFamily="34" charset="-122"/>
                <a:cs typeface="Calibri" pitchFamily="34" charset="-120"/>
              </a:rPr>
              <a:t>AVG. RESPONSE LATENCY</a:t>
            </a:r>
            <a:endParaRPr lang="en-US" sz="900" dirty="0"/>
          </a:p>
        </p:txBody>
      </p:sp>
      <p:sp>
        <p:nvSpPr>
          <p:cNvPr id="23" name="Text 20"/>
          <p:cNvSpPr/>
          <p:nvPr/>
        </p:nvSpPr>
        <p:spPr>
          <a:xfrm>
            <a:off x="548640" y="3520440"/>
            <a:ext cx="5486400" cy="320040"/>
          </a:xfrm>
          <a:prstGeom prst="rect">
            <a:avLst/>
          </a:prstGeom>
          <a:noFill/>
          <a:ln/>
        </p:spPr>
        <p:txBody>
          <a:bodyPr wrap="square" lIns="0" tIns="0" rIns="0" bIns="0" rtlCol="0" anchor="ctr"/>
          <a:lstStyle/>
          <a:p>
            <a:pPr indent="0" marL="0">
              <a:buNone/>
            </a:pPr>
            <a:r>
              <a:rPr lang="en-US" sz="1300" b="1" spc="150" kern="0" dirty="0">
                <a:solidFill>
                  <a:srgbClr val="22D3EE"/>
                </a:solidFill>
                <a:latin typeface="Calibri" pitchFamily="34" charset="0"/>
                <a:ea typeface="Calibri" pitchFamily="34" charset="-122"/>
                <a:cs typeface="Calibri" pitchFamily="34" charset="-120"/>
              </a:rPr>
              <a:t>FUTURE ROADMAP</a:t>
            </a:r>
            <a:endParaRPr lang="en-US" sz="1300" dirty="0"/>
          </a:p>
        </p:txBody>
      </p:sp>
      <p:sp>
        <p:nvSpPr>
          <p:cNvPr id="24" name="Shape 21"/>
          <p:cNvSpPr/>
          <p:nvPr/>
        </p:nvSpPr>
        <p:spPr>
          <a:xfrm>
            <a:off x="518008" y="3931920"/>
            <a:ext cx="2624328" cy="1737360"/>
          </a:xfrm>
          <a:prstGeom prst="roundRect">
            <a:avLst>
              <a:gd name="adj" fmla="val 6316"/>
            </a:avLst>
          </a:prstGeom>
          <a:solidFill>
            <a:srgbClr val="1A1A1F">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5" name="Shape 22"/>
          <p:cNvSpPr/>
          <p:nvPr/>
        </p:nvSpPr>
        <p:spPr>
          <a:xfrm>
            <a:off x="700888" y="4114800"/>
            <a:ext cx="365760" cy="365760"/>
          </a:xfrm>
          <a:prstGeom prst="ellipse">
            <a:avLst/>
          </a:prstGeom>
          <a:solidFill>
            <a:srgbClr val="3B82F6">
              <a:alpha val="30000"/>
            </a:srgbClr>
          </a:solidFill>
          <a:ln w="15875">
            <a:solidFill>
              <a:srgbClr val="3B82F6"/>
            </a:solidFill>
            <a:prstDash val="solid"/>
          </a:ln>
        </p:spPr>
      </p:sp>
      <p:sp>
        <p:nvSpPr>
          <p:cNvPr id="26" name="Text 23"/>
          <p:cNvSpPr/>
          <p:nvPr/>
        </p:nvSpPr>
        <p:spPr>
          <a:xfrm>
            <a:off x="700888" y="4114800"/>
            <a:ext cx="365760" cy="365760"/>
          </a:xfrm>
          <a:prstGeom prst="rect">
            <a:avLst/>
          </a:prstGeom>
          <a:noFill/>
          <a:ln/>
        </p:spPr>
        <p:txBody>
          <a:bodyPr wrap="square" lIns="0" tIns="0" rIns="0" bIns="0" rtlCol="0" anchor="ctr"/>
          <a:lstStyle/>
          <a:p>
            <a:pPr algn="ctr" indent="0" marL="0">
              <a:buNone/>
            </a:pPr>
            <a:r>
              <a:rPr lang="en-US" sz="1300" b="1" dirty="0">
                <a:solidFill>
                  <a:srgbClr val="3B82F6"/>
                </a:solidFill>
                <a:latin typeface="Arial" pitchFamily="34" charset="0"/>
                <a:ea typeface="Arial" pitchFamily="34" charset="-122"/>
                <a:cs typeface="Arial" pitchFamily="34" charset="-120"/>
              </a:rPr>
              <a:t>1</a:t>
            </a:r>
            <a:endParaRPr lang="en-US" sz="1300" dirty="0"/>
          </a:p>
        </p:txBody>
      </p:sp>
      <p:sp>
        <p:nvSpPr>
          <p:cNvPr id="27" name="Text 24"/>
          <p:cNvSpPr/>
          <p:nvPr/>
        </p:nvSpPr>
        <p:spPr>
          <a:xfrm>
            <a:off x="700888" y="4709160"/>
            <a:ext cx="2258568" cy="502920"/>
          </a:xfrm>
          <a:prstGeom prst="rect">
            <a:avLst/>
          </a:prstGeom>
          <a:noFill/>
          <a:ln/>
        </p:spPr>
        <p:txBody>
          <a:bodyPr wrap="square" lIns="0" tIns="0" rIns="0" bIns="0" rtlCol="0" anchor="ctr"/>
          <a:lstStyle/>
          <a:p>
            <a:pPr indent="0" marL="0">
              <a:lnSpc>
                <a:spcPts val="1500"/>
              </a:lnSpc>
              <a:buNone/>
            </a:pPr>
            <a:r>
              <a:rPr lang="en-US" sz="1250" b="1" dirty="0">
                <a:solidFill>
                  <a:srgbClr val="F5F5F7"/>
                </a:solidFill>
                <a:latin typeface="Calibri" pitchFamily="34" charset="0"/>
                <a:ea typeface="Calibri" pitchFamily="34" charset="-122"/>
                <a:cs typeface="Calibri" pitchFamily="34" charset="-120"/>
              </a:rPr>
              <a:t>Multi-modal Research</a:t>
            </a:r>
            <a:endParaRPr lang="en-US" sz="1250" dirty="0"/>
          </a:p>
        </p:txBody>
      </p:sp>
      <p:sp>
        <p:nvSpPr>
          <p:cNvPr id="28" name="Text 25"/>
          <p:cNvSpPr/>
          <p:nvPr/>
        </p:nvSpPr>
        <p:spPr>
          <a:xfrm>
            <a:off x="700888" y="5166360"/>
            <a:ext cx="2258568" cy="457200"/>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Figures, tables &amp; charts as first-class evidence</a:t>
            </a:r>
            <a:endParaRPr lang="en-US" sz="1000" dirty="0"/>
          </a:p>
        </p:txBody>
      </p:sp>
      <p:sp>
        <p:nvSpPr>
          <p:cNvPr id="29" name="Shape 26"/>
          <p:cNvSpPr/>
          <p:nvPr/>
        </p:nvSpPr>
        <p:spPr>
          <a:xfrm>
            <a:off x="3361792" y="3931920"/>
            <a:ext cx="2624328" cy="1737360"/>
          </a:xfrm>
          <a:prstGeom prst="roundRect">
            <a:avLst>
              <a:gd name="adj" fmla="val 6316"/>
            </a:avLst>
          </a:prstGeom>
          <a:solidFill>
            <a:srgbClr val="1A1A1F">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0" name="Shape 27"/>
          <p:cNvSpPr/>
          <p:nvPr/>
        </p:nvSpPr>
        <p:spPr>
          <a:xfrm>
            <a:off x="3544672" y="4114800"/>
            <a:ext cx="365760" cy="365760"/>
          </a:xfrm>
          <a:prstGeom prst="ellipse">
            <a:avLst/>
          </a:prstGeom>
          <a:solidFill>
            <a:srgbClr val="8B5CF6">
              <a:alpha val="30000"/>
            </a:srgbClr>
          </a:solidFill>
          <a:ln w="15875">
            <a:solidFill>
              <a:srgbClr val="8B5CF6"/>
            </a:solidFill>
            <a:prstDash val="solid"/>
          </a:ln>
        </p:spPr>
      </p:sp>
      <p:sp>
        <p:nvSpPr>
          <p:cNvPr id="31" name="Text 28"/>
          <p:cNvSpPr/>
          <p:nvPr/>
        </p:nvSpPr>
        <p:spPr>
          <a:xfrm>
            <a:off x="3544672" y="4114800"/>
            <a:ext cx="365760" cy="365760"/>
          </a:xfrm>
          <a:prstGeom prst="rect">
            <a:avLst/>
          </a:prstGeom>
          <a:noFill/>
          <a:ln/>
        </p:spPr>
        <p:txBody>
          <a:bodyPr wrap="square" lIns="0" tIns="0" rIns="0" bIns="0" rtlCol="0" anchor="ctr"/>
          <a:lstStyle/>
          <a:p>
            <a:pPr algn="ctr" indent="0" marL="0">
              <a:buNone/>
            </a:pPr>
            <a:r>
              <a:rPr lang="en-US" sz="1300" b="1" dirty="0">
                <a:solidFill>
                  <a:srgbClr val="8B5CF6"/>
                </a:solidFill>
                <a:latin typeface="Arial" pitchFamily="34" charset="0"/>
                <a:ea typeface="Arial" pitchFamily="34" charset="-122"/>
                <a:cs typeface="Arial" pitchFamily="34" charset="-120"/>
              </a:rPr>
              <a:t>2</a:t>
            </a:r>
            <a:endParaRPr lang="en-US" sz="1300" dirty="0"/>
          </a:p>
        </p:txBody>
      </p:sp>
      <p:sp>
        <p:nvSpPr>
          <p:cNvPr id="32" name="Text 29"/>
          <p:cNvSpPr/>
          <p:nvPr/>
        </p:nvSpPr>
        <p:spPr>
          <a:xfrm>
            <a:off x="3544672" y="4709160"/>
            <a:ext cx="2258568" cy="502920"/>
          </a:xfrm>
          <a:prstGeom prst="rect">
            <a:avLst/>
          </a:prstGeom>
          <a:noFill/>
          <a:ln/>
        </p:spPr>
        <p:txBody>
          <a:bodyPr wrap="square" lIns="0" tIns="0" rIns="0" bIns="0" rtlCol="0" anchor="ctr"/>
          <a:lstStyle/>
          <a:p>
            <a:pPr indent="0" marL="0">
              <a:lnSpc>
                <a:spcPts val="1500"/>
              </a:lnSpc>
              <a:buNone/>
            </a:pPr>
            <a:r>
              <a:rPr lang="en-US" sz="1250" b="1" dirty="0">
                <a:solidFill>
                  <a:srgbClr val="F5F5F7"/>
                </a:solidFill>
                <a:latin typeface="Calibri" pitchFamily="34" charset="0"/>
                <a:ea typeface="Calibri" pitchFamily="34" charset="-122"/>
                <a:cs typeface="Calibri" pitchFamily="34" charset="-120"/>
              </a:rPr>
              <a:t>Fine-Tuned Domain Models</a:t>
            </a:r>
            <a:endParaRPr lang="en-US" sz="1250" dirty="0"/>
          </a:p>
        </p:txBody>
      </p:sp>
      <p:sp>
        <p:nvSpPr>
          <p:cNvPr id="33" name="Text 30"/>
          <p:cNvSpPr/>
          <p:nvPr/>
        </p:nvSpPr>
        <p:spPr>
          <a:xfrm>
            <a:off x="3544672" y="5166360"/>
            <a:ext cx="2258568" cy="457200"/>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Biomedical, legal &amp; engineering variants</a:t>
            </a:r>
            <a:endParaRPr lang="en-US" sz="1000" dirty="0"/>
          </a:p>
        </p:txBody>
      </p:sp>
      <p:sp>
        <p:nvSpPr>
          <p:cNvPr id="34" name="Shape 31"/>
          <p:cNvSpPr/>
          <p:nvPr/>
        </p:nvSpPr>
        <p:spPr>
          <a:xfrm>
            <a:off x="6205576" y="3931920"/>
            <a:ext cx="2624328" cy="1737360"/>
          </a:xfrm>
          <a:prstGeom prst="roundRect">
            <a:avLst>
              <a:gd name="adj" fmla="val 6316"/>
            </a:avLst>
          </a:prstGeom>
          <a:solidFill>
            <a:srgbClr val="1A1A1F">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35" name="Shape 32"/>
          <p:cNvSpPr/>
          <p:nvPr/>
        </p:nvSpPr>
        <p:spPr>
          <a:xfrm>
            <a:off x="6388456" y="4114800"/>
            <a:ext cx="365760" cy="365760"/>
          </a:xfrm>
          <a:prstGeom prst="ellipse">
            <a:avLst/>
          </a:prstGeom>
          <a:solidFill>
            <a:srgbClr val="22D3EE">
              <a:alpha val="30000"/>
            </a:srgbClr>
          </a:solidFill>
          <a:ln w="15875">
            <a:solidFill>
              <a:srgbClr val="22D3EE"/>
            </a:solidFill>
            <a:prstDash val="solid"/>
          </a:ln>
        </p:spPr>
      </p:sp>
      <p:sp>
        <p:nvSpPr>
          <p:cNvPr id="36" name="Text 33"/>
          <p:cNvSpPr/>
          <p:nvPr/>
        </p:nvSpPr>
        <p:spPr>
          <a:xfrm>
            <a:off x="6388456" y="4114800"/>
            <a:ext cx="365760" cy="365760"/>
          </a:xfrm>
          <a:prstGeom prst="rect">
            <a:avLst/>
          </a:prstGeom>
          <a:noFill/>
          <a:ln/>
        </p:spPr>
        <p:txBody>
          <a:bodyPr wrap="square" lIns="0" tIns="0" rIns="0" bIns="0" rtlCol="0" anchor="ctr"/>
          <a:lstStyle/>
          <a:p>
            <a:pPr algn="ctr" indent="0" marL="0">
              <a:buNone/>
            </a:pPr>
            <a:r>
              <a:rPr lang="en-US" sz="1300" b="1" dirty="0">
                <a:solidFill>
                  <a:srgbClr val="22D3EE"/>
                </a:solidFill>
                <a:latin typeface="Arial" pitchFamily="34" charset="0"/>
                <a:ea typeface="Arial" pitchFamily="34" charset="-122"/>
                <a:cs typeface="Arial" pitchFamily="34" charset="-120"/>
              </a:rPr>
              <a:t>3</a:t>
            </a:r>
            <a:endParaRPr lang="en-US" sz="1300" dirty="0"/>
          </a:p>
        </p:txBody>
      </p:sp>
      <p:sp>
        <p:nvSpPr>
          <p:cNvPr id="37" name="Text 34"/>
          <p:cNvSpPr/>
          <p:nvPr/>
        </p:nvSpPr>
        <p:spPr>
          <a:xfrm>
            <a:off x="6388456" y="4709160"/>
            <a:ext cx="2258568" cy="502920"/>
          </a:xfrm>
          <a:prstGeom prst="rect">
            <a:avLst/>
          </a:prstGeom>
          <a:noFill/>
          <a:ln/>
        </p:spPr>
        <p:txBody>
          <a:bodyPr wrap="square" lIns="0" tIns="0" rIns="0" bIns="0" rtlCol="0" anchor="ctr"/>
          <a:lstStyle/>
          <a:p>
            <a:pPr indent="0" marL="0">
              <a:lnSpc>
                <a:spcPts val="1500"/>
              </a:lnSpc>
              <a:buNone/>
            </a:pPr>
            <a:r>
              <a:rPr lang="en-US" sz="1250" b="1" dirty="0">
                <a:solidFill>
                  <a:srgbClr val="F5F5F7"/>
                </a:solidFill>
                <a:latin typeface="Calibri" pitchFamily="34" charset="0"/>
                <a:ea typeface="Calibri" pitchFamily="34" charset="-122"/>
                <a:cs typeface="Calibri" pitchFamily="34" charset="-120"/>
              </a:rPr>
              <a:t>Autonomous Research Agents</a:t>
            </a:r>
            <a:endParaRPr lang="en-US" sz="1250" dirty="0"/>
          </a:p>
        </p:txBody>
      </p:sp>
      <p:sp>
        <p:nvSpPr>
          <p:cNvPr id="38" name="Text 35"/>
          <p:cNvSpPr/>
          <p:nvPr/>
        </p:nvSpPr>
        <p:spPr>
          <a:xfrm>
            <a:off x="6388456" y="5166360"/>
            <a:ext cx="2258568" cy="457200"/>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Self-directed literature monitoring</a:t>
            </a:r>
            <a:endParaRPr lang="en-US" sz="1000" dirty="0"/>
          </a:p>
        </p:txBody>
      </p:sp>
      <p:sp>
        <p:nvSpPr>
          <p:cNvPr id="39" name="Shape 36"/>
          <p:cNvSpPr/>
          <p:nvPr/>
        </p:nvSpPr>
        <p:spPr>
          <a:xfrm>
            <a:off x="9049360" y="3931920"/>
            <a:ext cx="2624328" cy="1737360"/>
          </a:xfrm>
          <a:prstGeom prst="roundRect">
            <a:avLst>
              <a:gd name="adj" fmla="val 6316"/>
            </a:avLst>
          </a:prstGeom>
          <a:solidFill>
            <a:srgbClr val="1A1A1F">
              <a:alpha val="85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40" name="Shape 37"/>
          <p:cNvSpPr/>
          <p:nvPr/>
        </p:nvSpPr>
        <p:spPr>
          <a:xfrm>
            <a:off x="9232240" y="4114800"/>
            <a:ext cx="365760" cy="365760"/>
          </a:xfrm>
          <a:prstGeom prst="ellipse">
            <a:avLst/>
          </a:prstGeom>
          <a:solidFill>
            <a:srgbClr val="34D399">
              <a:alpha val="30000"/>
            </a:srgbClr>
          </a:solidFill>
          <a:ln w="15875">
            <a:solidFill>
              <a:srgbClr val="34D399"/>
            </a:solidFill>
            <a:prstDash val="solid"/>
          </a:ln>
        </p:spPr>
      </p:sp>
      <p:sp>
        <p:nvSpPr>
          <p:cNvPr id="41" name="Text 38"/>
          <p:cNvSpPr/>
          <p:nvPr/>
        </p:nvSpPr>
        <p:spPr>
          <a:xfrm>
            <a:off x="9232240" y="4114800"/>
            <a:ext cx="365760" cy="365760"/>
          </a:xfrm>
          <a:prstGeom prst="rect">
            <a:avLst/>
          </a:prstGeom>
          <a:noFill/>
          <a:ln/>
        </p:spPr>
        <p:txBody>
          <a:bodyPr wrap="square" lIns="0" tIns="0" rIns="0" bIns="0" rtlCol="0" anchor="ctr"/>
          <a:lstStyle/>
          <a:p>
            <a:pPr algn="ctr" indent="0" marL="0">
              <a:buNone/>
            </a:pPr>
            <a:r>
              <a:rPr lang="en-US" sz="1300" b="1" dirty="0">
                <a:solidFill>
                  <a:srgbClr val="34D399"/>
                </a:solidFill>
                <a:latin typeface="Arial" pitchFamily="34" charset="0"/>
                <a:ea typeface="Arial" pitchFamily="34" charset="-122"/>
                <a:cs typeface="Arial" pitchFamily="34" charset="-120"/>
              </a:rPr>
              <a:t>4</a:t>
            </a:r>
            <a:endParaRPr lang="en-US" sz="1300" dirty="0"/>
          </a:p>
        </p:txBody>
      </p:sp>
      <p:sp>
        <p:nvSpPr>
          <p:cNvPr id="42" name="Text 39"/>
          <p:cNvSpPr/>
          <p:nvPr/>
        </p:nvSpPr>
        <p:spPr>
          <a:xfrm>
            <a:off x="9232240" y="4709160"/>
            <a:ext cx="2258568" cy="502920"/>
          </a:xfrm>
          <a:prstGeom prst="rect">
            <a:avLst/>
          </a:prstGeom>
          <a:noFill/>
          <a:ln/>
        </p:spPr>
        <p:txBody>
          <a:bodyPr wrap="square" lIns="0" tIns="0" rIns="0" bIns="0" rtlCol="0" anchor="ctr"/>
          <a:lstStyle/>
          <a:p>
            <a:pPr indent="0" marL="0">
              <a:lnSpc>
                <a:spcPts val="1500"/>
              </a:lnSpc>
              <a:buNone/>
            </a:pPr>
            <a:r>
              <a:rPr lang="en-US" sz="1250" b="1" dirty="0">
                <a:solidFill>
                  <a:srgbClr val="F5F5F7"/>
                </a:solidFill>
                <a:latin typeface="Calibri" pitchFamily="34" charset="0"/>
                <a:ea typeface="Calibri" pitchFamily="34" charset="-122"/>
                <a:cs typeface="Calibri" pitchFamily="34" charset="-120"/>
              </a:rPr>
              <a:t>Collaborative Workspace</a:t>
            </a:r>
            <a:endParaRPr lang="en-US" sz="1250" dirty="0"/>
          </a:p>
        </p:txBody>
      </p:sp>
      <p:sp>
        <p:nvSpPr>
          <p:cNvPr id="43" name="Text 40"/>
          <p:cNvSpPr/>
          <p:nvPr/>
        </p:nvSpPr>
        <p:spPr>
          <a:xfrm>
            <a:off x="9232240" y="5166360"/>
            <a:ext cx="2258568" cy="457200"/>
          </a:xfrm>
          <a:prstGeom prst="rect">
            <a:avLst/>
          </a:prstGeom>
          <a:noFill/>
          <a:ln/>
        </p:spPr>
        <p:txBody>
          <a:bodyPr wrap="square" lIns="0" tIns="0" rIns="0" bIns="0" rtlCol="0" anchor="ctr"/>
          <a:lstStyle/>
          <a:p>
            <a:pPr indent="0" marL="0">
              <a:lnSpc>
                <a:spcPts val="1200"/>
              </a:lnSpc>
              <a:buNone/>
            </a:pPr>
            <a:r>
              <a:rPr lang="en-US" sz="1000" dirty="0">
                <a:solidFill>
                  <a:srgbClr val="9CA3AF"/>
                </a:solidFill>
                <a:latin typeface="Calibri" pitchFamily="34" charset="0"/>
                <a:ea typeface="Calibri" pitchFamily="34" charset="-122"/>
                <a:cs typeface="Calibri" pitchFamily="34" charset="-120"/>
              </a:rPr>
              <a:t>Real-time multi-user manuscript editing</a:t>
            </a:r>
            <a:endParaRPr lang="en-US" sz="1000" dirty="0"/>
          </a:p>
        </p:txBody>
      </p:sp>
      <p:sp>
        <p:nvSpPr>
          <p:cNvPr id="44" name="Text 41"/>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 / 10</a:t>
            </a:r>
            <a:endParaRPr lang="en-US" sz="1000" dirty="0"/>
          </a:p>
        </p:txBody>
      </p:sp>
      <p:sp>
        <p:nvSpPr>
          <p:cNvPr id="45" name="Text 42"/>
          <p:cNvSpPr/>
          <p:nvPr/>
        </p:nvSpPr>
        <p:spPr>
          <a:xfrm>
            <a:off x="548640" y="6473952"/>
            <a:ext cx="2743200" cy="274320"/>
          </a:xfrm>
          <a:prstGeom prst="rect">
            <a:avLst/>
          </a:prstGeom>
          <a:noFill/>
          <a:ln/>
        </p:spPr>
        <p:txBody>
          <a:bodyPr wrap="square" lIns="0" tIns="0" rIns="0" bIns="0" rtlCol="0" anchor="ctr"/>
          <a:lstStyle/>
          <a:p>
            <a:pPr algn="l" indent="0" marL="0">
              <a:buNone/>
            </a:pPr>
            <a:r>
              <a:rPr lang="en-US" sz="1000" spc="150" kern="0" dirty="0">
                <a:solidFill>
                  <a:srgbClr val="6B7280"/>
                </a:solidFill>
                <a:latin typeface="Calibri" pitchFamily="34" charset="0"/>
                <a:ea typeface="Calibri" pitchFamily="34" charset="-122"/>
                <a:cs typeface="Calibri" pitchFamily="34" charset="-120"/>
              </a:rPr>
              <a:t>SOFTROY AGENT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pic>
        <p:nvPicPr>
          <p:cNvPr id="2" name="Image 0" descr="/home/claude/deck/assets/bg-her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algn="l" indent="0" marL="0">
              <a:buNone/>
            </a:pPr>
            <a:r>
              <a:rPr lang="en-US" sz="1250" b="1" spc="300" kern="0" dirty="0">
                <a:solidFill>
                  <a:srgbClr val="22D3EE"/>
                </a:solidFill>
                <a:latin typeface="Calibri" pitchFamily="34" charset="0"/>
                <a:ea typeface="Calibri" pitchFamily="34" charset="-122"/>
                <a:cs typeface="Calibri" pitchFamily="34" charset="-120"/>
              </a:rPr>
              <a:t>CONCLUSION</a:t>
            </a:r>
            <a:endParaRPr lang="en-US" sz="1250" dirty="0"/>
          </a:p>
        </p:txBody>
      </p:sp>
      <p:sp>
        <p:nvSpPr>
          <p:cNvPr id="4" name="Text 1"/>
          <p:cNvSpPr/>
          <p:nvPr/>
        </p:nvSpPr>
        <p:spPr>
          <a:xfrm>
            <a:off x="594360" y="777240"/>
            <a:ext cx="7772400" cy="1463040"/>
          </a:xfrm>
          <a:prstGeom prst="rect">
            <a:avLst/>
          </a:prstGeom>
          <a:noFill/>
          <a:ln/>
        </p:spPr>
        <p:txBody>
          <a:bodyPr wrap="square" lIns="0" tIns="0" rIns="0" bIns="0" rtlCol="0" anchor="ctr"/>
          <a:lstStyle/>
          <a:p>
            <a:pPr indent="0" marL="0">
              <a:lnSpc>
                <a:spcPts val="4400"/>
              </a:lnSpc>
              <a:buNone/>
            </a:pPr>
            <a:r>
              <a:rPr lang="en-US" sz="4000" b="1" dirty="0">
                <a:solidFill>
                  <a:srgbClr val="F5F5F7"/>
                </a:solidFill>
                <a:latin typeface="Calibri" pitchFamily="34" charset="0"/>
                <a:ea typeface="Calibri" pitchFamily="34" charset="-122"/>
                <a:cs typeface="Calibri" pitchFamily="34" charset="-120"/>
              </a:rPr>
              <a:t>A collaborative virtual</a:t>
            </a:r>
            <a:endParaRPr lang="en-US" sz="4000" dirty="0"/>
          </a:p>
          <a:p>
            <a:pPr indent="0" marL="0">
              <a:lnSpc>
                <a:spcPts val="4400"/>
              </a:lnSpc>
              <a:buNone/>
            </a:pPr>
            <a:r>
              <a:rPr lang="en-US" sz="4000" b="1" dirty="0">
                <a:solidFill>
                  <a:srgbClr val="F5F5F7"/>
                </a:solidFill>
                <a:latin typeface="Calibri" pitchFamily="34" charset="0"/>
                <a:ea typeface="Calibri" pitchFamily="34" charset="-122"/>
                <a:cs typeface="Calibri" pitchFamily="34" charset="-120"/>
              </a:rPr>
              <a:t>research team.</a:t>
            </a:r>
            <a:endParaRPr lang="en-US" sz="4000" dirty="0"/>
          </a:p>
        </p:txBody>
      </p:sp>
      <p:sp>
        <p:nvSpPr>
          <p:cNvPr id="5" name="Shape 2"/>
          <p:cNvSpPr/>
          <p:nvPr/>
        </p:nvSpPr>
        <p:spPr>
          <a:xfrm>
            <a:off x="731520" y="2587752"/>
            <a:ext cx="365760" cy="365760"/>
          </a:xfrm>
          <a:prstGeom prst="ellipse">
            <a:avLst/>
          </a:prstGeom>
          <a:solidFill>
            <a:srgbClr val="22D3EE">
              <a:alpha val="35000"/>
            </a:srgbClr>
          </a:solidFill>
          <a:ln w="15875">
            <a:solidFill>
              <a:srgbClr val="22D3EE"/>
            </a:solidFill>
            <a:prstDash val="solid"/>
          </a:ln>
        </p:spPr>
      </p:sp>
      <p:sp>
        <p:nvSpPr>
          <p:cNvPr id="6" name="Text 3"/>
          <p:cNvSpPr/>
          <p:nvPr/>
        </p:nvSpPr>
        <p:spPr>
          <a:xfrm>
            <a:off x="731520" y="2587752"/>
            <a:ext cx="36576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7" name="Text 4"/>
          <p:cNvSpPr/>
          <p:nvPr/>
        </p:nvSpPr>
        <p:spPr>
          <a:xfrm>
            <a:off x="1234440" y="2514600"/>
            <a:ext cx="6949440" cy="292608"/>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Evidence-grounded</a:t>
            </a:r>
            <a:endParaRPr lang="en-US" sz="1450" dirty="0"/>
          </a:p>
        </p:txBody>
      </p:sp>
      <p:sp>
        <p:nvSpPr>
          <p:cNvPr id="8" name="Text 5"/>
          <p:cNvSpPr/>
          <p:nvPr/>
        </p:nvSpPr>
        <p:spPr>
          <a:xfrm>
            <a:off x="1234440" y="2807208"/>
            <a:ext cx="6949440" cy="365760"/>
          </a:xfrm>
          <a:prstGeom prst="rect">
            <a:avLst/>
          </a:prstGeom>
          <a:noFill/>
          <a:ln/>
        </p:spPr>
        <p:txBody>
          <a:bodyPr wrap="square" lIns="0" tIns="0" rIns="0" bIns="0" rtlCol="0" anchor="ctr"/>
          <a:lstStyle/>
          <a:p>
            <a:pPr indent="0" marL="0">
              <a:lnSpc>
                <a:spcPts val="1400"/>
              </a:lnSpc>
              <a:buNone/>
            </a:pPr>
            <a:r>
              <a:rPr lang="en-US" sz="1150" dirty="0">
                <a:solidFill>
                  <a:srgbClr val="9CA3AF"/>
                </a:solidFill>
                <a:latin typeface="Calibri" pitchFamily="34" charset="0"/>
                <a:ea typeface="Calibri" pitchFamily="34" charset="-122"/>
                <a:cs typeface="Calibri" pitchFamily="34" charset="-120"/>
              </a:rPr>
              <a:t>Every claim traces to a retrieved chunk and verified DOI — not model memory.</a:t>
            </a:r>
            <a:endParaRPr lang="en-US" sz="1150" dirty="0"/>
          </a:p>
        </p:txBody>
      </p:sp>
      <p:sp>
        <p:nvSpPr>
          <p:cNvPr id="9" name="Shape 6"/>
          <p:cNvSpPr/>
          <p:nvPr/>
        </p:nvSpPr>
        <p:spPr>
          <a:xfrm>
            <a:off x="731520" y="3337560"/>
            <a:ext cx="365760" cy="365760"/>
          </a:xfrm>
          <a:prstGeom prst="ellipse">
            <a:avLst/>
          </a:prstGeom>
          <a:solidFill>
            <a:srgbClr val="22D3EE">
              <a:alpha val="35000"/>
            </a:srgbClr>
          </a:solidFill>
          <a:ln w="15875">
            <a:solidFill>
              <a:srgbClr val="22D3EE"/>
            </a:solidFill>
            <a:prstDash val="solid"/>
          </a:ln>
        </p:spPr>
      </p:sp>
      <p:sp>
        <p:nvSpPr>
          <p:cNvPr id="10" name="Text 7"/>
          <p:cNvSpPr/>
          <p:nvPr/>
        </p:nvSpPr>
        <p:spPr>
          <a:xfrm>
            <a:off x="731520" y="3337560"/>
            <a:ext cx="36576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11" name="Text 8"/>
          <p:cNvSpPr/>
          <p:nvPr/>
        </p:nvSpPr>
        <p:spPr>
          <a:xfrm>
            <a:off x="1234440" y="3264408"/>
            <a:ext cx="6949440" cy="292608"/>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Adaptive, not fixed</a:t>
            </a:r>
            <a:endParaRPr lang="en-US" sz="1450" dirty="0"/>
          </a:p>
        </p:txBody>
      </p:sp>
      <p:sp>
        <p:nvSpPr>
          <p:cNvPr id="12" name="Text 9"/>
          <p:cNvSpPr/>
          <p:nvPr/>
        </p:nvSpPr>
        <p:spPr>
          <a:xfrm>
            <a:off x="1234440" y="3557016"/>
            <a:ext cx="6949440" cy="365760"/>
          </a:xfrm>
          <a:prstGeom prst="rect">
            <a:avLst/>
          </a:prstGeom>
          <a:noFill/>
          <a:ln/>
        </p:spPr>
        <p:txBody>
          <a:bodyPr wrap="square" lIns="0" tIns="0" rIns="0" bIns="0" rtlCol="0" anchor="ctr"/>
          <a:lstStyle/>
          <a:p>
            <a:pPr indent="0" marL="0">
              <a:lnSpc>
                <a:spcPts val="1400"/>
              </a:lnSpc>
              <a:buNone/>
            </a:pPr>
            <a:r>
              <a:rPr lang="en-US" sz="1150" dirty="0">
                <a:solidFill>
                  <a:srgbClr val="9CA3AF"/>
                </a:solidFill>
                <a:latin typeface="Calibri" pitchFamily="34" charset="0"/>
                <a:ea typeface="Calibri" pitchFamily="34" charset="-122"/>
                <a:cs typeface="Calibri" pitchFamily="34" charset="-120"/>
              </a:rPr>
              <a:t>Dynamic LangGraph workflows execute only the agents each query needs.</a:t>
            </a:r>
            <a:endParaRPr lang="en-US" sz="1150" dirty="0"/>
          </a:p>
        </p:txBody>
      </p:sp>
      <p:sp>
        <p:nvSpPr>
          <p:cNvPr id="13" name="Shape 10"/>
          <p:cNvSpPr/>
          <p:nvPr/>
        </p:nvSpPr>
        <p:spPr>
          <a:xfrm>
            <a:off x="731520" y="4087368"/>
            <a:ext cx="365760" cy="365760"/>
          </a:xfrm>
          <a:prstGeom prst="ellipse">
            <a:avLst/>
          </a:prstGeom>
          <a:solidFill>
            <a:srgbClr val="22D3EE">
              <a:alpha val="35000"/>
            </a:srgbClr>
          </a:solidFill>
          <a:ln w="15875">
            <a:solidFill>
              <a:srgbClr val="22D3EE"/>
            </a:solidFill>
            <a:prstDash val="solid"/>
          </a:ln>
        </p:spPr>
      </p:sp>
      <p:sp>
        <p:nvSpPr>
          <p:cNvPr id="14" name="Text 11"/>
          <p:cNvSpPr/>
          <p:nvPr/>
        </p:nvSpPr>
        <p:spPr>
          <a:xfrm>
            <a:off x="731520" y="4087368"/>
            <a:ext cx="36576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15" name="Text 12"/>
          <p:cNvSpPr/>
          <p:nvPr/>
        </p:nvSpPr>
        <p:spPr>
          <a:xfrm>
            <a:off x="1234440" y="4014216"/>
            <a:ext cx="6949440" cy="292608"/>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Consensus-driven</a:t>
            </a:r>
            <a:endParaRPr lang="en-US" sz="1450" dirty="0"/>
          </a:p>
        </p:txBody>
      </p:sp>
      <p:sp>
        <p:nvSpPr>
          <p:cNvPr id="16" name="Text 13"/>
          <p:cNvSpPr/>
          <p:nvPr/>
        </p:nvSpPr>
        <p:spPr>
          <a:xfrm>
            <a:off x="1234440" y="4306824"/>
            <a:ext cx="6949440" cy="365760"/>
          </a:xfrm>
          <a:prstGeom prst="rect">
            <a:avLst/>
          </a:prstGeom>
          <a:noFill/>
          <a:ln/>
        </p:spPr>
        <p:txBody>
          <a:bodyPr wrap="square" lIns="0" tIns="0" rIns="0" bIns="0" rtlCol="0" anchor="ctr"/>
          <a:lstStyle/>
          <a:p>
            <a:pPr indent="0" marL="0">
              <a:lnSpc>
                <a:spcPts val="1400"/>
              </a:lnSpc>
              <a:buNone/>
            </a:pPr>
            <a:r>
              <a:rPr lang="en-US" sz="1150" dirty="0">
                <a:solidFill>
                  <a:srgbClr val="9CA3AF"/>
                </a:solidFill>
                <a:latin typeface="Calibri" pitchFamily="34" charset="0"/>
                <a:ea typeface="Calibri" pitchFamily="34" charset="-122"/>
                <a:cs typeface="Calibri" pitchFamily="34" charset="-120"/>
              </a:rPr>
              <a:t>Debate &amp; Contradiction agents cut hallucinations before they reach the page.</a:t>
            </a:r>
            <a:endParaRPr lang="en-US" sz="1150" dirty="0"/>
          </a:p>
        </p:txBody>
      </p:sp>
      <p:sp>
        <p:nvSpPr>
          <p:cNvPr id="17" name="Shape 14"/>
          <p:cNvSpPr/>
          <p:nvPr/>
        </p:nvSpPr>
        <p:spPr>
          <a:xfrm>
            <a:off x="731520" y="4837176"/>
            <a:ext cx="365760" cy="365760"/>
          </a:xfrm>
          <a:prstGeom prst="ellipse">
            <a:avLst/>
          </a:prstGeom>
          <a:solidFill>
            <a:srgbClr val="22D3EE">
              <a:alpha val="35000"/>
            </a:srgbClr>
          </a:solidFill>
          <a:ln w="15875">
            <a:solidFill>
              <a:srgbClr val="22D3EE"/>
            </a:solidFill>
            <a:prstDash val="solid"/>
          </a:ln>
        </p:spPr>
      </p:sp>
      <p:sp>
        <p:nvSpPr>
          <p:cNvPr id="18" name="Text 15"/>
          <p:cNvSpPr/>
          <p:nvPr/>
        </p:nvSpPr>
        <p:spPr>
          <a:xfrm>
            <a:off x="731520" y="4837176"/>
            <a:ext cx="36576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19" name="Text 16"/>
          <p:cNvSpPr/>
          <p:nvPr/>
        </p:nvSpPr>
        <p:spPr>
          <a:xfrm>
            <a:off x="1234440" y="4764024"/>
            <a:ext cx="6949440" cy="292608"/>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Open &amp; modular</a:t>
            </a:r>
            <a:endParaRPr lang="en-US" sz="1450" dirty="0"/>
          </a:p>
        </p:txBody>
      </p:sp>
      <p:sp>
        <p:nvSpPr>
          <p:cNvPr id="20" name="Text 17"/>
          <p:cNvSpPr/>
          <p:nvPr/>
        </p:nvSpPr>
        <p:spPr>
          <a:xfrm>
            <a:off x="1234440" y="5056632"/>
            <a:ext cx="6949440" cy="365760"/>
          </a:xfrm>
          <a:prstGeom prst="rect">
            <a:avLst/>
          </a:prstGeom>
          <a:noFill/>
          <a:ln/>
        </p:spPr>
        <p:txBody>
          <a:bodyPr wrap="square" lIns="0" tIns="0" rIns="0" bIns="0" rtlCol="0" anchor="ctr"/>
          <a:lstStyle/>
          <a:p>
            <a:pPr indent="0" marL="0">
              <a:lnSpc>
                <a:spcPts val="1400"/>
              </a:lnSpc>
              <a:buNone/>
            </a:pPr>
            <a:r>
              <a:rPr lang="en-US" sz="1150" dirty="0">
                <a:solidFill>
                  <a:srgbClr val="9CA3AF"/>
                </a:solidFill>
                <a:latin typeface="Calibri" pitchFamily="34" charset="0"/>
                <a:ea typeface="Calibri" pitchFamily="34" charset="-122"/>
                <a:cs typeface="Calibri" pitchFamily="34" charset="-120"/>
              </a:rPr>
              <a:t>Open-weight models via OpenRouter — swap providers without a rewrite.</a:t>
            </a:r>
            <a:endParaRPr lang="en-US" sz="1150" dirty="0"/>
          </a:p>
        </p:txBody>
      </p:sp>
      <p:sp>
        <p:nvSpPr>
          <p:cNvPr id="21" name="Shape 18"/>
          <p:cNvSpPr/>
          <p:nvPr/>
        </p:nvSpPr>
        <p:spPr>
          <a:xfrm>
            <a:off x="8275320" y="1737360"/>
            <a:ext cx="3383280" cy="4023360"/>
          </a:xfrm>
          <a:prstGeom prst="roundRect">
            <a:avLst>
              <a:gd name="adj" fmla="val 3243"/>
            </a:avLst>
          </a:prstGeom>
          <a:solidFill>
            <a:srgbClr val="141417">
              <a:alpha val="88000"/>
            </a:srgbClr>
          </a:solidFill>
          <a:ln w="12700">
            <a:solidFill>
              <a:srgbClr val="27272E"/>
            </a:solidFill>
            <a:prstDash val="solid"/>
          </a:ln>
          <a:effectLst>
            <a:outerShdw sx="100000" sy="100000" kx="0" ky="0" algn="bl" rotWithShape="0" blurRad="127000" dist="38100" dir="5400000">
              <a:srgbClr val="000000">
                <a:alpha val="35000"/>
              </a:srgbClr>
            </a:outerShdw>
          </a:effectLst>
        </p:spPr>
      </p:sp>
      <p:sp>
        <p:nvSpPr>
          <p:cNvPr id="22" name="Text 19"/>
          <p:cNvSpPr/>
          <p:nvPr/>
        </p:nvSpPr>
        <p:spPr>
          <a:xfrm>
            <a:off x="8549640" y="2148840"/>
            <a:ext cx="2834640" cy="502920"/>
          </a:xfrm>
          <a:prstGeom prst="rect">
            <a:avLst/>
          </a:prstGeom>
          <a:noFill/>
          <a:ln/>
        </p:spPr>
        <p:txBody>
          <a:bodyPr wrap="square" lIns="0" tIns="0" rIns="0" bIns="0" rtlCol="0" anchor="ctr"/>
          <a:lstStyle/>
          <a:p>
            <a:pPr indent="0" marL="0">
              <a:buNone/>
            </a:pPr>
            <a:r>
              <a:rPr lang="en-US" sz="2400" b="1" dirty="0">
                <a:solidFill>
                  <a:srgbClr val="F5F5F7"/>
                </a:solidFill>
                <a:latin typeface="Calibri" pitchFamily="34" charset="0"/>
                <a:ea typeface="Calibri" pitchFamily="34" charset="-122"/>
                <a:cs typeface="Calibri" pitchFamily="34" charset="-120"/>
              </a:rPr>
              <a:t>Thank You</a:t>
            </a:r>
            <a:endParaRPr lang="en-US" sz="2400" dirty="0"/>
          </a:p>
        </p:txBody>
      </p:sp>
      <p:sp>
        <p:nvSpPr>
          <p:cNvPr id="23" name="Text 20"/>
          <p:cNvSpPr/>
          <p:nvPr/>
        </p:nvSpPr>
        <p:spPr>
          <a:xfrm>
            <a:off x="8549640" y="2651760"/>
            <a:ext cx="2834640" cy="365760"/>
          </a:xfrm>
          <a:prstGeom prst="rect">
            <a:avLst/>
          </a:prstGeom>
          <a:noFill/>
          <a:ln/>
        </p:spPr>
        <p:txBody>
          <a:bodyPr wrap="square" lIns="0" tIns="0" rIns="0" bIns="0" rtlCol="0" anchor="ctr"/>
          <a:lstStyle/>
          <a:p>
            <a:pPr indent="0" marL="0">
              <a:buNone/>
            </a:pPr>
            <a:r>
              <a:rPr lang="en-US" sz="1400" dirty="0">
                <a:solidFill>
                  <a:srgbClr val="22D3EE"/>
                </a:solidFill>
                <a:latin typeface="Calibri" pitchFamily="34" charset="0"/>
                <a:ea typeface="Calibri" pitchFamily="34" charset="-122"/>
                <a:cs typeface="Calibri" pitchFamily="34" charset="-120"/>
              </a:rPr>
              <a:t>Questions?</a:t>
            </a:r>
            <a:endParaRPr lang="en-US" sz="1400" dirty="0"/>
          </a:p>
        </p:txBody>
      </p:sp>
      <p:sp>
        <p:nvSpPr>
          <p:cNvPr id="24" name="Shape 21"/>
          <p:cNvSpPr/>
          <p:nvPr/>
        </p:nvSpPr>
        <p:spPr>
          <a:xfrm>
            <a:off x="8549640" y="3200400"/>
            <a:ext cx="2834640" cy="0"/>
          </a:xfrm>
          <a:prstGeom prst="line">
            <a:avLst/>
          </a:prstGeom>
          <a:noFill/>
          <a:ln w="12700">
            <a:solidFill>
              <a:srgbClr val="27272E"/>
            </a:solidFill>
            <a:prstDash val="solid"/>
          </a:ln>
        </p:spPr>
      </p:sp>
      <p:sp>
        <p:nvSpPr>
          <p:cNvPr id="25" name="Text 22"/>
          <p:cNvSpPr/>
          <p:nvPr/>
        </p:nvSpPr>
        <p:spPr>
          <a:xfrm>
            <a:off x="8549640" y="3383280"/>
            <a:ext cx="2834640" cy="274320"/>
          </a:xfrm>
          <a:prstGeom prst="rect">
            <a:avLst/>
          </a:prstGeom>
          <a:noFill/>
          <a:ln/>
        </p:spPr>
        <p:txBody>
          <a:bodyPr wrap="square" lIns="0" tIns="0" rIns="0" bIns="0" rtlCol="0" anchor="ctr"/>
          <a:lstStyle/>
          <a:p>
            <a:pPr indent="0" marL="0">
              <a:buNone/>
            </a:pPr>
            <a:r>
              <a:rPr lang="en-US" sz="1100" b="1" spc="200" kern="0" dirty="0">
                <a:solidFill>
                  <a:srgbClr val="F5F5F7"/>
                </a:solidFill>
                <a:latin typeface="Calibri" pitchFamily="34" charset="0"/>
                <a:ea typeface="Calibri" pitchFamily="34" charset="-122"/>
                <a:cs typeface="Calibri" pitchFamily="34" charset="-120"/>
              </a:rPr>
              <a:t>SOFTROY AGENT</a:t>
            </a:r>
            <a:endParaRPr lang="en-US" sz="1100" dirty="0"/>
          </a:p>
        </p:txBody>
      </p:sp>
      <p:sp>
        <p:nvSpPr>
          <p:cNvPr id="26" name="Text 23"/>
          <p:cNvSpPr/>
          <p:nvPr/>
        </p:nvSpPr>
        <p:spPr>
          <a:xfrm>
            <a:off x="8549640" y="3657600"/>
            <a:ext cx="2834640" cy="640080"/>
          </a:xfrm>
          <a:prstGeom prst="rect">
            <a:avLst/>
          </a:prstGeom>
          <a:noFill/>
          <a:ln/>
        </p:spPr>
        <p:txBody>
          <a:bodyPr wrap="square" lIns="0" tIns="0" rIns="0" bIns="0" rtlCol="0" anchor="ctr"/>
          <a:lstStyle/>
          <a:p>
            <a:pPr indent="0" marL="0">
              <a:lnSpc>
                <a:spcPts val="1400"/>
              </a:lnSpc>
              <a:buNone/>
            </a:pPr>
            <a:r>
              <a:rPr lang="en-US" sz="1050" dirty="0">
                <a:solidFill>
                  <a:srgbClr val="9CA3AF"/>
                </a:solidFill>
                <a:latin typeface="Calibri" pitchFamily="34" charset="0"/>
                <a:ea typeface="Calibri" pitchFamily="34" charset="-122"/>
                <a:cs typeface="Calibri" pitchFamily="34" charset="-120"/>
              </a:rPr>
              <a:t>Multi-Agent Academic</a:t>
            </a:r>
            <a:endParaRPr lang="en-US" sz="1050" dirty="0"/>
          </a:p>
          <a:p>
            <a:pPr indent="0" marL="0">
              <a:lnSpc>
                <a:spcPts val="1400"/>
              </a:lnSpc>
              <a:buNone/>
            </a:pPr>
            <a:r>
              <a:rPr lang="en-US" sz="1050" dirty="0">
                <a:solidFill>
                  <a:srgbClr val="9CA3AF"/>
                </a:solidFill>
                <a:latin typeface="Calibri" pitchFamily="34" charset="0"/>
                <a:ea typeface="Calibri" pitchFamily="34" charset="-122"/>
                <a:cs typeface="Calibri" pitchFamily="34" charset="-120"/>
              </a:rPr>
              <a:t>Research Assistant</a:t>
            </a:r>
            <a:endParaRPr lang="en-US" sz="1050" dirty="0"/>
          </a:p>
        </p:txBody>
      </p:sp>
      <p:sp>
        <p:nvSpPr>
          <p:cNvPr id="27" name="Text 24"/>
          <p:cNvSpPr/>
          <p:nvPr/>
        </p:nvSpPr>
        <p:spPr>
          <a:xfrm>
            <a:off x="8549640" y="5074920"/>
            <a:ext cx="2834640" cy="548640"/>
          </a:xfrm>
          <a:prstGeom prst="rect">
            <a:avLst/>
          </a:prstGeom>
          <a:noFill/>
          <a:ln/>
        </p:spPr>
        <p:txBody>
          <a:bodyPr wrap="square" lIns="0" tIns="0" rIns="0" bIns="0" rtlCol="0" anchor="ctr"/>
          <a:lstStyle/>
          <a:p>
            <a:pPr indent="0" marL="0">
              <a:lnSpc>
                <a:spcPts val="1300"/>
              </a:lnSpc>
              <a:buNone/>
            </a:pPr>
            <a:r>
              <a:rPr lang="en-US" sz="1000" dirty="0">
                <a:solidFill>
                  <a:srgbClr val="6B7280"/>
                </a:solidFill>
                <a:latin typeface="Calibri" pitchFamily="34" charset="0"/>
                <a:ea typeface="Calibri" pitchFamily="34" charset="-122"/>
                <a:cs typeface="Calibri" pitchFamily="34" charset="-120"/>
              </a:rPr>
              <a:t>Final Year Project</a:t>
            </a:r>
            <a:endParaRPr lang="en-US" sz="1000" dirty="0"/>
          </a:p>
          <a:p>
            <a:pPr indent="0" marL="0">
              <a:lnSpc>
                <a:spcPts val="1300"/>
              </a:lnSpc>
              <a:buNone/>
            </a:pPr>
            <a:r>
              <a:rPr lang="en-US" sz="1000" dirty="0">
                <a:solidFill>
                  <a:srgbClr val="6B7280"/>
                </a:solidFill>
                <a:latin typeface="Calibri" pitchFamily="34" charset="0"/>
                <a:ea typeface="Calibri" pitchFamily="34" charset="-122"/>
                <a:cs typeface="Calibri" pitchFamily="34" charset="-120"/>
              </a:rPr>
              <a:t>Technical Review</a:t>
            </a:r>
            <a:endParaRPr lang="en-US" sz="1000" dirty="0"/>
          </a:p>
        </p:txBody>
      </p:sp>
      <p:sp>
        <p:nvSpPr>
          <p:cNvPr id="28" name="Text 25"/>
          <p:cNvSpPr/>
          <p:nvPr/>
        </p:nvSpPr>
        <p:spPr>
          <a:xfrm>
            <a:off x="11155680" y="6473952"/>
            <a:ext cx="8229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2026-08-01T05:28:21Z</dcterms:created>
  <dcterms:modified xsi:type="dcterms:W3CDTF">2026-08-01T05:28:21Z</dcterms:modified>
</cp:coreProperties>
</file>